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431" r:id="rId2"/>
    <p:sldId id="430" r:id="rId3"/>
    <p:sldId id="432" r:id="rId4"/>
    <p:sldId id="434" r:id="rId5"/>
    <p:sldId id="433" r:id="rId6"/>
    <p:sldId id="443" r:id="rId7"/>
    <p:sldId id="439" r:id="rId8"/>
    <p:sldId id="436" r:id="rId9"/>
    <p:sldId id="435" r:id="rId10"/>
    <p:sldId id="441" r:id="rId11"/>
    <p:sldId id="437" r:id="rId12"/>
    <p:sldId id="438" r:id="rId13"/>
    <p:sldId id="442" r:id="rId14"/>
    <p:sldId id="445" r:id="rId15"/>
    <p:sldId id="444" r:id="rId16"/>
    <p:sldId id="446" r:id="rId17"/>
    <p:sldId id="447" r:id="rId18"/>
    <p:sldId id="448"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78" autoAdjust="0"/>
  </p:normalViewPr>
  <p:slideViewPr>
    <p:cSldViewPr snapToGrid="0">
      <p:cViewPr varScale="1">
        <p:scale>
          <a:sx n="89" d="100"/>
          <a:sy n="89" d="100"/>
        </p:scale>
        <p:origin x="429"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D4D212-D6EA-4F8E-B1AD-89670F7ADC76}" type="datetimeFigureOut">
              <a:rPr lang="zh-CN" altLang="en-US" smtClean="0"/>
              <a:t>2026/5/19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355BE5-50BD-44EF-9A21-A1071F743006}" type="slidenum">
              <a:rPr lang="zh-CN" altLang="en-US" smtClean="0"/>
              <a:t>‹#›</a:t>
            </a:fld>
            <a:endParaRPr lang="zh-CN" altLang="en-US"/>
          </a:p>
        </p:txBody>
      </p:sp>
    </p:spTree>
    <p:extLst>
      <p:ext uri="{BB962C8B-B14F-4D97-AF65-F5344CB8AC3E}">
        <p14:creationId xmlns:p14="http://schemas.microsoft.com/office/powerpoint/2010/main" val="1600817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B4E9C-3B20-0833-BDE8-B636156E56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1228B7-43E3-A5FC-5CEE-F563B86CB2F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4585380-4071-6D72-8C3D-B426E2F583D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E6D7071-69A8-66BE-63E2-3C0B21783DE7}"/>
              </a:ext>
            </a:extLst>
          </p:cNvPr>
          <p:cNvSpPr>
            <a:spLocks noGrp="1"/>
          </p:cNvSpPr>
          <p:nvPr>
            <p:ph type="sldNum" sz="quarter" idx="5"/>
          </p:nvPr>
        </p:nvSpPr>
        <p:spPr/>
        <p:txBody>
          <a:bodyPr/>
          <a:lstStyle/>
          <a:p>
            <a:fld id="{00DCDB35-2E4E-4B7B-B6F4-40EA9C73117F}" type="slidenum">
              <a:rPr lang="zh-CN" altLang="en-US" smtClean="0"/>
              <a:t>2</a:t>
            </a:fld>
            <a:endParaRPr lang="zh-CN" altLang="en-US"/>
          </a:p>
        </p:txBody>
      </p:sp>
    </p:spTree>
    <p:extLst>
      <p:ext uri="{BB962C8B-B14F-4D97-AF65-F5344CB8AC3E}">
        <p14:creationId xmlns:p14="http://schemas.microsoft.com/office/powerpoint/2010/main" val="1226465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0C604-0D5D-D28C-D7C5-B20E07358B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2A195B-475E-7961-03AC-0F93326A2DE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8C47A19-EB4C-B8FF-5C18-682B807CAB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0D6F2C-48DB-3302-0076-AD822A7F2003}"/>
              </a:ext>
            </a:extLst>
          </p:cNvPr>
          <p:cNvSpPr>
            <a:spLocks noGrp="1"/>
          </p:cNvSpPr>
          <p:nvPr>
            <p:ph type="sldNum" sz="quarter" idx="5"/>
          </p:nvPr>
        </p:nvSpPr>
        <p:spPr/>
        <p:txBody>
          <a:bodyPr/>
          <a:lstStyle/>
          <a:p>
            <a:fld id="{00DCDB35-2E4E-4B7B-B6F4-40EA9C73117F}" type="slidenum">
              <a:rPr lang="zh-CN" altLang="en-US" smtClean="0"/>
              <a:t>3</a:t>
            </a:fld>
            <a:endParaRPr lang="zh-CN" altLang="en-US"/>
          </a:p>
        </p:txBody>
      </p:sp>
    </p:spTree>
    <p:extLst>
      <p:ext uri="{BB962C8B-B14F-4D97-AF65-F5344CB8AC3E}">
        <p14:creationId xmlns:p14="http://schemas.microsoft.com/office/powerpoint/2010/main" val="1006884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B4FE-7D89-4FEE-C15B-14842A8C29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0C8D8D-BFED-7635-ACC2-D49CE589E42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AFA05DE1-225D-1B11-95E0-A8DC706C754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DE4DDE0-2FA8-70DA-0DFD-0B1D44FFC156}"/>
              </a:ext>
            </a:extLst>
          </p:cNvPr>
          <p:cNvSpPr>
            <a:spLocks noGrp="1"/>
          </p:cNvSpPr>
          <p:nvPr>
            <p:ph type="sldNum" sz="quarter" idx="5"/>
          </p:nvPr>
        </p:nvSpPr>
        <p:spPr/>
        <p:txBody>
          <a:bodyPr/>
          <a:lstStyle/>
          <a:p>
            <a:fld id="{00DCDB35-2E4E-4B7B-B6F4-40EA9C73117F}" type="slidenum">
              <a:rPr lang="zh-CN" altLang="en-US" smtClean="0"/>
              <a:t>4</a:t>
            </a:fld>
            <a:endParaRPr lang="zh-CN" altLang="en-US"/>
          </a:p>
        </p:txBody>
      </p:sp>
    </p:spTree>
    <p:extLst>
      <p:ext uri="{BB962C8B-B14F-4D97-AF65-F5344CB8AC3E}">
        <p14:creationId xmlns:p14="http://schemas.microsoft.com/office/powerpoint/2010/main" val="2442260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DC6A3-CE1C-6E73-F5AF-69958974D0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142EE2-CFF8-495C-DFA3-C9EEC5A3F75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862F912-826F-9111-E329-8E7EB74EFC9F}"/>
              </a:ext>
            </a:extLst>
          </p:cNvPr>
          <p:cNvSpPr>
            <a:spLocks noGrp="1"/>
          </p:cNvSpPr>
          <p:nvPr>
            <p:ph type="body" idx="1"/>
          </p:nvPr>
        </p:nvSpPr>
        <p:spPr/>
        <p:txBody>
          <a:bodyPr/>
          <a:lstStyle/>
          <a:p>
            <a:r>
              <a:rPr lang="en-US" altLang="zh-CN" dirty="0"/>
              <a:t>For More: https://claude.ai/share/554c70e2-0d18-4a61-8af3-74f9d8495a8f</a:t>
            </a:r>
            <a:endParaRPr lang="zh-CN" altLang="en-US" dirty="0"/>
          </a:p>
        </p:txBody>
      </p:sp>
      <p:sp>
        <p:nvSpPr>
          <p:cNvPr id="4" name="灯片编号占位符 3">
            <a:extLst>
              <a:ext uri="{FF2B5EF4-FFF2-40B4-BE49-F238E27FC236}">
                <a16:creationId xmlns:a16="http://schemas.microsoft.com/office/drawing/2014/main" id="{95747876-CEE1-A117-3382-22637179B5A3}"/>
              </a:ext>
            </a:extLst>
          </p:cNvPr>
          <p:cNvSpPr>
            <a:spLocks noGrp="1"/>
          </p:cNvSpPr>
          <p:nvPr>
            <p:ph type="sldNum" sz="quarter" idx="5"/>
          </p:nvPr>
        </p:nvSpPr>
        <p:spPr/>
        <p:txBody>
          <a:bodyPr/>
          <a:lstStyle/>
          <a:p>
            <a:fld id="{00DCDB35-2E4E-4B7B-B6F4-40EA9C73117F}" type="slidenum">
              <a:rPr lang="zh-CN" altLang="en-US" smtClean="0"/>
              <a:t>5</a:t>
            </a:fld>
            <a:endParaRPr lang="zh-CN" altLang="en-US"/>
          </a:p>
        </p:txBody>
      </p:sp>
    </p:spTree>
    <p:extLst>
      <p:ext uri="{BB962C8B-B14F-4D97-AF65-F5344CB8AC3E}">
        <p14:creationId xmlns:p14="http://schemas.microsoft.com/office/powerpoint/2010/main" val="873842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ABF47-F439-463D-AC74-64868A4424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EFD47C-0565-067D-D77F-0586E397B98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33356C1-1BB0-5A28-5AEA-15C7B4CF61A3}"/>
              </a:ext>
            </a:extLst>
          </p:cNvPr>
          <p:cNvSpPr>
            <a:spLocks noGrp="1"/>
          </p:cNvSpPr>
          <p:nvPr>
            <p:ph type="body" idx="1"/>
          </p:nvPr>
        </p:nvSpPr>
        <p:spPr/>
        <p:txBody>
          <a:bodyPr/>
          <a:lstStyle/>
          <a:p>
            <a:r>
              <a:rPr lang="en-US" altLang="zh-CN" dirty="0"/>
              <a:t>For More: https://claude.ai/share/554c70e2-0d18-4a61-8af3-74f9d8495a8f</a:t>
            </a:r>
            <a:endParaRPr lang="zh-CN" altLang="en-US" dirty="0"/>
          </a:p>
        </p:txBody>
      </p:sp>
      <p:sp>
        <p:nvSpPr>
          <p:cNvPr id="4" name="灯片编号占位符 3">
            <a:extLst>
              <a:ext uri="{FF2B5EF4-FFF2-40B4-BE49-F238E27FC236}">
                <a16:creationId xmlns:a16="http://schemas.microsoft.com/office/drawing/2014/main" id="{BB47FB3A-29EE-9131-0802-4AA5747AE0BC}"/>
              </a:ext>
            </a:extLst>
          </p:cNvPr>
          <p:cNvSpPr>
            <a:spLocks noGrp="1"/>
          </p:cNvSpPr>
          <p:nvPr>
            <p:ph type="sldNum" sz="quarter" idx="5"/>
          </p:nvPr>
        </p:nvSpPr>
        <p:spPr/>
        <p:txBody>
          <a:bodyPr/>
          <a:lstStyle/>
          <a:p>
            <a:fld id="{00DCDB35-2E4E-4B7B-B6F4-40EA9C73117F}" type="slidenum">
              <a:rPr lang="zh-CN" altLang="en-US" smtClean="0"/>
              <a:t>6</a:t>
            </a:fld>
            <a:endParaRPr lang="zh-CN" altLang="en-US"/>
          </a:p>
        </p:txBody>
      </p:sp>
    </p:spTree>
    <p:extLst>
      <p:ext uri="{BB962C8B-B14F-4D97-AF65-F5344CB8AC3E}">
        <p14:creationId xmlns:p14="http://schemas.microsoft.com/office/powerpoint/2010/main" val="1225787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ED54B-AF93-CED2-87BA-4B5AB9E825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34222F-F7F4-43A6-BA44-B9C73377E72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0ACA11E-395F-F173-155B-C5460F2FDF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A493B8-5D6E-430C-383D-2CD3A62F1903}"/>
              </a:ext>
            </a:extLst>
          </p:cNvPr>
          <p:cNvSpPr>
            <a:spLocks noGrp="1"/>
          </p:cNvSpPr>
          <p:nvPr>
            <p:ph type="sldNum" sz="quarter" idx="5"/>
          </p:nvPr>
        </p:nvSpPr>
        <p:spPr/>
        <p:txBody>
          <a:bodyPr/>
          <a:lstStyle/>
          <a:p>
            <a:fld id="{00DCDB35-2E4E-4B7B-B6F4-40EA9C73117F}" type="slidenum">
              <a:rPr lang="zh-CN" altLang="en-US" smtClean="0"/>
              <a:t>7</a:t>
            </a:fld>
            <a:endParaRPr lang="zh-CN" altLang="en-US"/>
          </a:p>
        </p:txBody>
      </p:sp>
    </p:spTree>
    <p:extLst>
      <p:ext uri="{BB962C8B-B14F-4D97-AF65-F5344CB8AC3E}">
        <p14:creationId xmlns:p14="http://schemas.microsoft.com/office/powerpoint/2010/main" val="385666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E10D0-20B7-8AFB-855B-92273DB72F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8B7F8F-8CD0-7C9F-BA2A-11CD1C81DE7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DC26090-A9F1-D063-EA14-CE09654374F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228F302-8F79-7053-5262-53E0974FCF8C}"/>
              </a:ext>
            </a:extLst>
          </p:cNvPr>
          <p:cNvSpPr>
            <a:spLocks noGrp="1"/>
          </p:cNvSpPr>
          <p:nvPr>
            <p:ph type="sldNum" sz="quarter" idx="5"/>
          </p:nvPr>
        </p:nvSpPr>
        <p:spPr/>
        <p:txBody>
          <a:bodyPr/>
          <a:lstStyle/>
          <a:p>
            <a:fld id="{00DCDB35-2E4E-4B7B-B6F4-40EA9C73117F}" type="slidenum">
              <a:rPr lang="zh-CN" altLang="en-US" smtClean="0"/>
              <a:t>8</a:t>
            </a:fld>
            <a:endParaRPr lang="zh-CN" altLang="en-US"/>
          </a:p>
        </p:txBody>
      </p:sp>
    </p:spTree>
    <p:extLst>
      <p:ext uri="{BB962C8B-B14F-4D97-AF65-F5344CB8AC3E}">
        <p14:creationId xmlns:p14="http://schemas.microsoft.com/office/powerpoint/2010/main" val="4153992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E65CB-310F-27ED-2195-F0A65C53B3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D086D4-58C3-25F7-2377-547C66DC2FE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160A811-8302-90FC-1B71-3BBCF97D9858}"/>
              </a:ext>
            </a:extLst>
          </p:cNvPr>
          <p:cNvSpPr>
            <a:spLocks noGrp="1"/>
          </p:cNvSpPr>
          <p:nvPr>
            <p:ph type="body" idx="1"/>
          </p:nvPr>
        </p:nvSpPr>
        <p:spPr/>
        <p:txBody>
          <a:bodyPr/>
          <a:lstStyle/>
          <a:p>
            <a:r>
              <a:rPr lang="en-US" altLang="zh-CN" b="1" dirty="0"/>
              <a:t>Bare metal</a:t>
            </a:r>
            <a:r>
              <a:rPr lang="en-US" altLang="zh-CN" dirty="0"/>
              <a:t> is just the agent process running directly on the OS, with no virtualization layer in between. You get the absolute best performance — no overhead at all — which matters if you're doing heavy GPU inference locally. The downside is zero isolation: a misbehaving agent can affect the whole machine, and you can't easily run multiple agents side by side without them interfering.</a:t>
            </a:r>
            <a:br>
              <a:rPr lang="en-US" altLang="zh-CN" dirty="0"/>
            </a:br>
            <a:endParaRPr lang="en-US" altLang="zh-CN" dirty="0"/>
          </a:p>
          <a:p>
            <a:r>
              <a:rPr lang="en-US" altLang="zh-CN" b="1" dirty="0"/>
              <a:t>Virtual machines</a:t>
            </a:r>
            <a:r>
              <a:rPr lang="en-US" altLang="zh-CN" dirty="0"/>
              <a:t> wrap an entire operating system inside a hypervisor (like KVM on Linux, or VMware </a:t>
            </a:r>
            <a:r>
              <a:rPr lang="en-US" altLang="zh-CN" dirty="0" err="1"/>
              <a:t>ESXi</a:t>
            </a:r>
            <a:r>
              <a:rPr lang="en-US" altLang="zh-CN" dirty="0"/>
              <a:t>). The hypervisor creates the illusion of separate hardware for each VM. This gives the strongest isolation — each agent's VM can crash without touching others — but the cost is significant: booting a VM takes minutes, and you're paying the memory/CPU overhead of running a full OS per agent. This is still common for regulated workloads where you need hard multi-tenancy guarantees.</a:t>
            </a:r>
          </a:p>
          <a:p>
            <a:endParaRPr lang="en-US" altLang="zh-CN" dirty="0"/>
          </a:p>
          <a:p>
            <a:r>
              <a:rPr lang="en-US" altLang="zh-CN" b="1" dirty="0"/>
              <a:t>Containers</a:t>
            </a:r>
            <a:r>
              <a:rPr lang="en-US" altLang="zh-CN" dirty="0"/>
              <a:t> (Docker, </a:t>
            </a:r>
            <a:r>
              <a:rPr lang="en-US" altLang="zh-CN" dirty="0" err="1"/>
              <a:t>containerd</a:t>
            </a:r>
            <a:r>
              <a:rPr lang="en-US" altLang="zh-CN" dirty="0"/>
              <a:t>, </a:t>
            </a:r>
            <a:r>
              <a:rPr lang="en-US" altLang="zh-CN" dirty="0" err="1"/>
              <a:t>Podman</a:t>
            </a:r>
            <a:r>
              <a:rPr lang="en-US" altLang="zh-CN" dirty="0"/>
              <a:t>) are the dominant method today. Instead of virtualizing hardware, they use Linux kernel features — </a:t>
            </a:r>
            <a:r>
              <a:rPr lang="en-US" altLang="zh-CN" sz="1200" kern="1200" dirty="0">
                <a:solidFill>
                  <a:schemeClr val="tx1"/>
                </a:solidFill>
                <a:latin typeface="+mn-lt"/>
                <a:ea typeface="+mn-ea"/>
                <a:cs typeface="+mn-cs"/>
              </a:rPr>
              <a:t>namespaces</a:t>
            </a:r>
            <a:r>
              <a:rPr lang="en-US" altLang="zh-CN" dirty="0"/>
              <a:t> to isolate the filesystem, network, and process tree, and </a:t>
            </a:r>
            <a:r>
              <a:rPr lang="en-US" altLang="zh-CN" sz="1200" kern="1200" dirty="0" err="1">
                <a:solidFill>
                  <a:schemeClr val="tx1"/>
                </a:solidFill>
                <a:latin typeface="+mn-lt"/>
                <a:ea typeface="+mn-ea"/>
                <a:cs typeface="+mn-cs"/>
              </a:rPr>
              <a:t>cgroups</a:t>
            </a:r>
            <a:r>
              <a:rPr lang="en-US" altLang="zh-CN" dirty="0"/>
              <a:t> to limit CPU/memory. Containers share the host kernel, which makes them fast to start (seconds) and lightweight. Kubernetes then orchestrates many containers across a cluster, handling scaling, restarts, and routing. Most cloud-deployed AI agents — Zendesk, Lindy, every SaaS agent — run this way.</a:t>
            </a:r>
          </a:p>
          <a:p>
            <a:endParaRPr lang="en-US" altLang="zh-CN" dirty="0"/>
          </a:p>
          <a:p>
            <a:r>
              <a:rPr lang="en-US" altLang="zh-CN" b="1" dirty="0"/>
              <a:t>Sandboxes</a:t>
            </a:r>
            <a:r>
              <a:rPr lang="en-US" altLang="zh-CN" dirty="0"/>
              <a:t> add a </a:t>
            </a:r>
            <a:r>
              <a:rPr lang="en-US" altLang="zh-CN" dirty="0" err="1"/>
              <a:t>syscall</a:t>
            </a:r>
            <a:r>
              <a:rPr lang="en-US" altLang="zh-CN" dirty="0"/>
              <a:t> filter on top of a container. Tools like </a:t>
            </a:r>
            <a:r>
              <a:rPr lang="en-US" altLang="zh-CN" sz="1200" kern="1200" dirty="0">
                <a:solidFill>
                  <a:schemeClr val="tx1"/>
                </a:solidFill>
                <a:latin typeface="+mn-lt"/>
                <a:ea typeface="+mn-ea"/>
                <a:cs typeface="+mn-cs"/>
              </a:rPr>
              <a:t>seccomp</a:t>
            </a:r>
            <a:r>
              <a:rPr lang="en-US" altLang="zh-CN" dirty="0"/>
              <a:t>, </a:t>
            </a:r>
            <a:r>
              <a:rPr lang="en-US" altLang="zh-CN" sz="1200" kern="1200" dirty="0" err="1">
                <a:solidFill>
                  <a:schemeClr val="tx1"/>
                </a:solidFill>
                <a:latin typeface="+mn-lt"/>
                <a:ea typeface="+mn-ea"/>
                <a:cs typeface="+mn-cs"/>
              </a:rPr>
              <a:t>gVisor</a:t>
            </a:r>
            <a:r>
              <a:rPr lang="en-US" altLang="zh-CN" dirty="0"/>
              <a:t>, or </a:t>
            </a:r>
            <a:r>
              <a:rPr lang="en-US" altLang="zh-CN" sz="1200" kern="1200" dirty="0">
                <a:solidFill>
                  <a:schemeClr val="tx1"/>
                </a:solidFill>
                <a:latin typeface="+mn-lt"/>
                <a:ea typeface="+mn-ea"/>
                <a:cs typeface="+mn-cs"/>
              </a:rPr>
              <a:t>Kata Containers</a:t>
            </a:r>
            <a:r>
              <a:rPr lang="en-US" altLang="zh-CN" dirty="0"/>
              <a:t> intercept every system call the agent tries to make and block anything not on the allowlist. This is critical when the agent can execute arbitrary code (a coding agent, for example). Claude's code execution environment and services like E2B use this pattern — the agent can run code, but it cannot touch the real filesystem, exfiltrate data, or open network connections you haven't explicitly permitted.</a:t>
            </a:r>
            <a:br>
              <a:rPr lang="en-US" altLang="zh-CN" dirty="0"/>
            </a:br>
            <a:endParaRPr lang="en-US" altLang="zh-CN" dirty="0"/>
          </a:p>
          <a:p>
            <a:r>
              <a:rPr lang="en-US" altLang="zh-CN" b="1" dirty="0"/>
              <a:t>Micro-VMs</a:t>
            </a:r>
            <a:r>
              <a:rPr lang="en-US" altLang="zh-CN" dirty="0"/>
              <a:t> (Firecracker, the engine behind AWS Lambda) are a clever middle ground. They're true VMs — with a hardware boundary — but stripped down to boot in under 100 milliseconds with minimal memory. Fly.io, Cloudflare Workers, and serverless platforms use this to give each agent invocation genuine VM isolation at container-like speed.</a:t>
            </a:r>
            <a:br>
              <a:rPr lang="en-US" altLang="zh-CN" dirty="0"/>
            </a:br>
            <a:endParaRPr lang="en-US" altLang="zh-CN" dirty="0"/>
          </a:p>
          <a:p>
            <a:r>
              <a:rPr lang="en-US" altLang="zh-CN" b="1" dirty="0"/>
              <a:t>In practice, these combine.</a:t>
            </a:r>
            <a:r>
              <a:rPr lang="en-US" altLang="zh-CN" dirty="0"/>
              <a:t> Kubernetes clusters typically run inside VMs on cloud providers (VM + container). A secure coding agent might run inside a container that's also sandboxed with </a:t>
            </a:r>
            <a:r>
              <a:rPr lang="en-US" altLang="zh-CN" dirty="0" err="1"/>
              <a:t>gVisor</a:t>
            </a:r>
            <a:r>
              <a:rPr lang="en-US" altLang="zh-CN" dirty="0"/>
              <a:t> (container + sandbox). Serverless agent tasks use Firecracker micro-VMs under the hood, possibly with </a:t>
            </a:r>
            <a:r>
              <a:rPr lang="en-US" altLang="zh-CN" dirty="0" err="1"/>
              <a:t>Wasm</a:t>
            </a:r>
            <a:r>
              <a:rPr lang="en-US" altLang="zh-CN" dirty="0"/>
              <a:t> for the actual agent code. The layers are composable, and teams dial up or down based on how much they trust the agent's actions.</a:t>
            </a:r>
          </a:p>
          <a:p>
            <a:endParaRPr lang="zh-CN" altLang="en-US" dirty="0"/>
          </a:p>
        </p:txBody>
      </p:sp>
      <p:sp>
        <p:nvSpPr>
          <p:cNvPr id="4" name="灯片编号占位符 3">
            <a:extLst>
              <a:ext uri="{FF2B5EF4-FFF2-40B4-BE49-F238E27FC236}">
                <a16:creationId xmlns:a16="http://schemas.microsoft.com/office/drawing/2014/main" id="{5440957E-5737-DFDC-11AE-5944F0F0A57C}"/>
              </a:ext>
            </a:extLst>
          </p:cNvPr>
          <p:cNvSpPr>
            <a:spLocks noGrp="1"/>
          </p:cNvSpPr>
          <p:nvPr>
            <p:ph type="sldNum" sz="quarter" idx="5"/>
          </p:nvPr>
        </p:nvSpPr>
        <p:spPr/>
        <p:txBody>
          <a:bodyPr/>
          <a:lstStyle/>
          <a:p>
            <a:fld id="{00DCDB35-2E4E-4B7B-B6F4-40EA9C73117F}" type="slidenum">
              <a:rPr lang="zh-CN" altLang="en-US" smtClean="0"/>
              <a:t>9</a:t>
            </a:fld>
            <a:endParaRPr lang="zh-CN" altLang="en-US"/>
          </a:p>
        </p:txBody>
      </p:sp>
    </p:spTree>
    <p:extLst>
      <p:ext uri="{BB962C8B-B14F-4D97-AF65-F5344CB8AC3E}">
        <p14:creationId xmlns:p14="http://schemas.microsoft.com/office/powerpoint/2010/main" val="1475831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7225-3257-E117-4AA0-E7F92DF4D0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AE41A6-286F-27C3-D1C4-5C40905287B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E7800E4-4FB2-183A-247D-A2C09D9B8EB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33ED8BA-308D-30DE-6D31-656BDEF99BCB}"/>
              </a:ext>
            </a:extLst>
          </p:cNvPr>
          <p:cNvSpPr>
            <a:spLocks noGrp="1"/>
          </p:cNvSpPr>
          <p:nvPr>
            <p:ph type="sldNum" sz="quarter" idx="5"/>
          </p:nvPr>
        </p:nvSpPr>
        <p:spPr/>
        <p:txBody>
          <a:bodyPr/>
          <a:lstStyle/>
          <a:p>
            <a:fld id="{00DCDB35-2E4E-4B7B-B6F4-40EA9C73117F}" type="slidenum">
              <a:rPr lang="zh-CN" altLang="en-US" smtClean="0"/>
              <a:t>10</a:t>
            </a:fld>
            <a:endParaRPr lang="zh-CN" altLang="en-US"/>
          </a:p>
        </p:txBody>
      </p:sp>
    </p:spTree>
    <p:extLst>
      <p:ext uri="{BB962C8B-B14F-4D97-AF65-F5344CB8AC3E}">
        <p14:creationId xmlns:p14="http://schemas.microsoft.com/office/powerpoint/2010/main" val="3392875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CAF8D-A202-7060-4B1F-826023D0E9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BE417B-7F23-B624-A00B-977A9373E43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C7EA1BC-C92B-3FC3-4EFB-C8F266F77E0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C4F9F3C-A056-3CB4-53EA-3DD80E7B343B}"/>
              </a:ext>
            </a:extLst>
          </p:cNvPr>
          <p:cNvSpPr>
            <a:spLocks noGrp="1"/>
          </p:cNvSpPr>
          <p:nvPr>
            <p:ph type="sldNum" sz="quarter" idx="5"/>
          </p:nvPr>
        </p:nvSpPr>
        <p:spPr/>
        <p:txBody>
          <a:bodyPr/>
          <a:lstStyle/>
          <a:p>
            <a:fld id="{00DCDB35-2E4E-4B7B-B6F4-40EA9C73117F}" type="slidenum">
              <a:rPr lang="zh-CN" altLang="en-US" smtClean="0"/>
              <a:t>11</a:t>
            </a:fld>
            <a:endParaRPr lang="zh-CN" altLang="en-US"/>
          </a:p>
        </p:txBody>
      </p:sp>
    </p:spTree>
    <p:extLst>
      <p:ext uri="{BB962C8B-B14F-4D97-AF65-F5344CB8AC3E}">
        <p14:creationId xmlns:p14="http://schemas.microsoft.com/office/powerpoint/2010/main" val="3167946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96910-B9A5-3179-E4E1-787E388A00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011A8F-90DF-FDCD-6102-6473F95E226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206858B5-0068-7267-2C5E-0E91D93D95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540F4C3-AEA0-124B-3E3C-852856655BB4}"/>
              </a:ext>
            </a:extLst>
          </p:cNvPr>
          <p:cNvSpPr>
            <a:spLocks noGrp="1"/>
          </p:cNvSpPr>
          <p:nvPr>
            <p:ph type="sldNum" sz="quarter" idx="5"/>
          </p:nvPr>
        </p:nvSpPr>
        <p:spPr/>
        <p:txBody>
          <a:bodyPr/>
          <a:lstStyle/>
          <a:p>
            <a:fld id="{00DCDB35-2E4E-4B7B-B6F4-40EA9C73117F}" type="slidenum">
              <a:rPr lang="zh-CN" altLang="en-US" smtClean="0"/>
              <a:t>12</a:t>
            </a:fld>
            <a:endParaRPr lang="zh-CN" altLang="en-US"/>
          </a:p>
        </p:txBody>
      </p:sp>
    </p:spTree>
    <p:extLst>
      <p:ext uri="{BB962C8B-B14F-4D97-AF65-F5344CB8AC3E}">
        <p14:creationId xmlns:p14="http://schemas.microsoft.com/office/powerpoint/2010/main" val="974150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0D032-A8AC-08CB-7562-DA240B4227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858476-C102-A37B-1A39-66A8116A5DB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09A264F-B497-57F5-2785-710D04791D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48F5076-A7F6-EE16-DE36-0DB024268CE6}"/>
              </a:ext>
            </a:extLst>
          </p:cNvPr>
          <p:cNvSpPr>
            <a:spLocks noGrp="1"/>
          </p:cNvSpPr>
          <p:nvPr>
            <p:ph type="sldNum" sz="quarter" idx="5"/>
          </p:nvPr>
        </p:nvSpPr>
        <p:spPr/>
        <p:txBody>
          <a:bodyPr/>
          <a:lstStyle/>
          <a:p>
            <a:fld id="{00DCDB35-2E4E-4B7B-B6F4-40EA9C73117F}" type="slidenum">
              <a:rPr lang="zh-CN" altLang="en-US" smtClean="0"/>
              <a:t>13</a:t>
            </a:fld>
            <a:endParaRPr lang="zh-CN" altLang="en-US"/>
          </a:p>
        </p:txBody>
      </p:sp>
    </p:spTree>
    <p:extLst>
      <p:ext uri="{BB962C8B-B14F-4D97-AF65-F5344CB8AC3E}">
        <p14:creationId xmlns:p14="http://schemas.microsoft.com/office/powerpoint/2010/main" val="2438454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DDDE-016D-01AE-5479-9CA02F6771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C1B576-DE02-4103-71EA-3C20669179C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F2F9189-EFEF-4671-15C6-D2CBD1ABD34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6CA68C5-F7C4-F65C-E2A5-3C4FE4FB88C3}"/>
              </a:ext>
            </a:extLst>
          </p:cNvPr>
          <p:cNvSpPr>
            <a:spLocks noGrp="1"/>
          </p:cNvSpPr>
          <p:nvPr>
            <p:ph type="sldNum" sz="quarter" idx="5"/>
          </p:nvPr>
        </p:nvSpPr>
        <p:spPr/>
        <p:txBody>
          <a:bodyPr/>
          <a:lstStyle/>
          <a:p>
            <a:fld id="{00DCDB35-2E4E-4B7B-B6F4-40EA9C73117F}" type="slidenum">
              <a:rPr lang="zh-CN" altLang="en-US" smtClean="0"/>
              <a:t>15</a:t>
            </a:fld>
            <a:endParaRPr lang="zh-CN" altLang="en-US"/>
          </a:p>
        </p:txBody>
      </p:sp>
    </p:spTree>
    <p:extLst>
      <p:ext uri="{BB962C8B-B14F-4D97-AF65-F5344CB8AC3E}">
        <p14:creationId xmlns:p14="http://schemas.microsoft.com/office/powerpoint/2010/main" val="3709081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A0BC-4D9D-B4E6-E0F4-E556CD0381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0D8E0A-D8E5-59D1-7535-A07703807B2B}"/>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A20C5A-C7DE-D489-ED5C-A0E725908FB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5AB41D2-00AB-0B54-EEE5-0393B04272EE}"/>
              </a:ext>
            </a:extLst>
          </p:cNvPr>
          <p:cNvSpPr>
            <a:spLocks noGrp="1"/>
          </p:cNvSpPr>
          <p:nvPr>
            <p:ph type="sldNum" sz="quarter" idx="5"/>
          </p:nvPr>
        </p:nvSpPr>
        <p:spPr/>
        <p:txBody>
          <a:bodyPr/>
          <a:lstStyle/>
          <a:p>
            <a:fld id="{00DCDB35-2E4E-4B7B-B6F4-40EA9C73117F}" type="slidenum">
              <a:rPr lang="zh-CN" altLang="en-US" smtClean="0"/>
              <a:t>16</a:t>
            </a:fld>
            <a:endParaRPr lang="zh-CN" altLang="en-US"/>
          </a:p>
        </p:txBody>
      </p:sp>
    </p:spTree>
    <p:extLst>
      <p:ext uri="{BB962C8B-B14F-4D97-AF65-F5344CB8AC3E}">
        <p14:creationId xmlns:p14="http://schemas.microsoft.com/office/powerpoint/2010/main" val="2353038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7C438-6354-DE9D-34AC-4560D388A2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D4039C-6673-5F10-594B-0EECB45A641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AB3C6EBB-F4F7-BD17-ED2F-2056CF9D67F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DBC482D-6D41-EEF5-A7E6-C59FB8602809}"/>
              </a:ext>
            </a:extLst>
          </p:cNvPr>
          <p:cNvSpPr>
            <a:spLocks noGrp="1"/>
          </p:cNvSpPr>
          <p:nvPr>
            <p:ph type="sldNum" sz="quarter" idx="5"/>
          </p:nvPr>
        </p:nvSpPr>
        <p:spPr/>
        <p:txBody>
          <a:bodyPr/>
          <a:lstStyle/>
          <a:p>
            <a:fld id="{00DCDB35-2E4E-4B7B-B6F4-40EA9C73117F}" type="slidenum">
              <a:rPr lang="zh-CN" altLang="en-US" smtClean="0"/>
              <a:t>17</a:t>
            </a:fld>
            <a:endParaRPr lang="zh-CN" altLang="en-US"/>
          </a:p>
        </p:txBody>
      </p:sp>
    </p:spTree>
    <p:extLst>
      <p:ext uri="{BB962C8B-B14F-4D97-AF65-F5344CB8AC3E}">
        <p14:creationId xmlns:p14="http://schemas.microsoft.com/office/powerpoint/2010/main" val="1935933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EE9B1-6E8C-8AE8-8921-EBBD49C291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6A3B66-5198-C7A8-1A68-8632FD88BFF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A8E7C2D-4539-7C74-A70D-9FFA0257C1B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F558F27-BF27-149B-9C61-A75D572723A3}"/>
              </a:ext>
            </a:extLst>
          </p:cNvPr>
          <p:cNvSpPr>
            <a:spLocks noGrp="1"/>
          </p:cNvSpPr>
          <p:nvPr>
            <p:ph type="sldNum" sz="quarter" idx="5"/>
          </p:nvPr>
        </p:nvSpPr>
        <p:spPr/>
        <p:txBody>
          <a:bodyPr/>
          <a:lstStyle/>
          <a:p>
            <a:fld id="{00DCDB35-2E4E-4B7B-B6F4-40EA9C73117F}" type="slidenum">
              <a:rPr lang="zh-CN" altLang="en-US" smtClean="0"/>
              <a:t>18</a:t>
            </a:fld>
            <a:endParaRPr lang="zh-CN" altLang="en-US"/>
          </a:p>
        </p:txBody>
      </p:sp>
    </p:spTree>
    <p:extLst>
      <p:ext uri="{BB962C8B-B14F-4D97-AF65-F5344CB8AC3E}">
        <p14:creationId xmlns:p14="http://schemas.microsoft.com/office/powerpoint/2010/main" val="2134234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9A8D-999E-9239-207B-D77A8211360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39844F0-F750-1414-9A6B-9B2AD91F96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0DE606D-E0EF-87C2-29AE-D543E7DF316F}"/>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430AA07C-5E23-6BF9-5A4F-19885F6E38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14A8E29-70A9-AB91-A0D6-BC703EBCB22C}"/>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1232650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A8D5C8-25ED-0C23-E55F-2441CF95A9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0D743FE-98EE-2E21-E525-3B9581714F7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658D2DB-E838-CE81-9D29-3C59AE1223BE}"/>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CCC3A841-2E0B-C727-EADA-0A76E32733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89C43C-36F2-11D8-9E68-5109A6618CF4}"/>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1670766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2AD554-FC66-0A9C-DE43-5F2DBCBF3EE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4195B83-C5CB-9840-599F-26A6196325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B5F7D49-D347-532A-6865-E3629B8E72D5}"/>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4CC15B40-9089-71B4-1741-E97FD87F87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00D7969-3BD4-B77D-B588-06CA63B897D8}"/>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681459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B17FA8-4D47-B8B6-6B8D-339F5E22378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80CD582-9BE0-AA5A-82A7-5320352E19E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1A8863B-F366-5A4F-097F-19DE328960D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1394B4B-8589-A824-97C4-167F0003C2F9}"/>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5EEB2A3B-D489-A488-7F9C-31FCF0B4351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9BB3E0B-E463-320D-7DCA-CAB69DBEBA33}"/>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34619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28973-4A59-48B3-BB79-AF7C0D5D528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DA95890-69FF-3240-267C-741532BC79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492DC55-A226-95E6-2CC2-E42292A6549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DC9DA68-772E-340F-8DAF-11A5809F20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8D5BFB7-7D90-A0FC-C02C-4B66B3E4549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00A9DF8-8FD1-2608-728B-033C676CC72F}"/>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8" name="页脚占位符 7">
            <a:extLst>
              <a:ext uri="{FF2B5EF4-FFF2-40B4-BE49-F238E27FC236}">
                <a16:creationId xmlns:a16="http://schemas.microsoft.com/office/drawing/2014/main" id="{751AA5FC-2C0D-6CDE-51C4-358652CA51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2C89484-3B8D-072D-E84D-AFFB2D9793C0}"/>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1846504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CA5B9D-124F-3750-952E-BD9F986B402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319C81B-F9A7-586A-3563-8AEEEDB630C0}"/>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106045B0-1D81-DA9B-BF77-02409061F1F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D41BEB-50E0-C935-6909-24621BA9AF63}"/>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1508450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8AFBB5-B638-54A1-F596-8A9BA13640B9}"/>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97B3D16F-69D4-C362-817F-4924A755103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6C5EACC-90C3-EB68-261C-29A31937B435}"/>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3424861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87F860-0A77-9BC3-D00C-E1DAE2A5D8A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4EC6A3B-2B88-D605-7919-5180F5E89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AD46982-A429-1DD7-649A-642D7971B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B484BA-A95D-0798-8DAF-C799989CBA80}"/>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DC11583B-AFAC-0276-1664-9AFFE9AE132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94CBB6-BFEE-19C0-9FB9-12A87466447D}"/>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2222706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F22D1F-1680-5BE7-5315-C72518C2B2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F12B11A-1DF2-F601-9B34-58A46E1412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FB581F9-2B9A-04B1-B20B-E0D4013BA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9BC34B-EA4D-7268-A397-FC22C6EE55A5}"/>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37F9774F-A2AB-0DDD-BA88-4F48F38AD56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DD95CA-93AB-BB37-563C-92F50B3EF711}"/>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964016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15D15-BC92-9A0C-E35D-9888BF3E7CC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D22C238-7E5F-AF90-BCDF-354929FEDF4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1D7A5E-2E57-F34D-BAE7-8DA4DF9D74C8}"/>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AFFC32B-3CF4-B860-5EF8-DA1EC9C9F9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DF3F28F-46FE-8F70-579E-97624948C9C2}"/>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553041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AA24C56-95F5-0623-5F47-790084F5F4B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14E6302-10B8-64FE-4001-E5BFB512439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D6DA363-1370-FD7C-5D9D-5017A3F244BC}"/>
              </a:ext>
            </a:extLst>
          </p:cNvPr>
          <p:cNvSpPr>
            <a:spLocks noGrp="1"/>
          </p:cNvSpPr>
          <p:nvPr>
            <p:ph type="dt" sz="half" idx="10"/>
          </p:nvPr>
        </p:nvSpPr>
        <p:spPr/>
        <p:txBody>
          <a:bodyPr/>
          <a:lstStyle/>
          <a:p>
            <a:fld id="{A33DD0E4-9A56-4F2F-92FD-85FCF6CC94C4}"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8D0A2824-42CC-E9A3-51BA-52A2AFDD528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A8C5E3-7A1B-28E7-15E0-DDD92696A7EE}"/>
              </a:ext>
            </a:extLst>
          </p:cNvPr>
          <p:cNvSpPr>
            <a:spLocks noGrp="1"/>
          </p:cNvSpPr>
          <p:nvPr>
            <p:ph type="sldNum" sz="quarter" idx="12"/>
          </p:nvPr>
        </p:nvSpPr>
        <p:spPr/>
        <p:txBody>
          <a:body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2550168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45577D2-1A53-F6B3-D546-FCBC00D67A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447BF3E-CE41-1E88-E094-8B0D663167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1DBC236-D56C-CC42-A53C-3AB6F4A27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3DD0E4-9A56-4F2F-92FD-85FCF6CC94C4}"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A8192A0-0343-3610-A1A2-0DDBE4A912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71C693E-EAB7-FAE6-38FF-848E50526E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61FBB-59D7-4DAF-910B-CE51D5CDD8EF}" type="slidenum">
              <a:rPr lang="zh-CN" altLang="en-US" smtClean="0"/>
              <a:t>‹#›</a:t>
            </a:fld>
            <a:endParaRPr lang="zh-CN" altLang="en-US"/>
          </a:p>
        </p:txBody>
      </p:sp>
    </p:spTree>
    <p:extLst>
      <p:ext uri="{BB962C8B-B14F-4D97-AF65-F5344CB8AC3E}">
        <p14:creationId xmlns:p14="http://schemas.microsoft.com/office/powerpoint/2010/main" val="570883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7388EB-5066-2C79-396E-9ED51B8D76DA}"/>
              </a:ext>
            </a:extLst>
          </p:cNvPr>
          <p:cNvSpPr>
            <a:spLocks noGrp="1"/>
          </p:cNvSpPr>
          <p:nvPr>
            <p:ph type="ctrTitle"/>
          </p:nvPr>
        </p:nvSpPr>
        <p:spPr>
          <a:xfrm>
            <a:off x="1310072" y="1122363"/>
            <a:ext cx="9571856" cy="2387600"/>
          </a:xfrm>
        </p:spPr>
        <p:txBody>
          <a:bodyPr/>
          <a:lstStyle/>
          <a:p>
            <a:r>
              <a:rPr lang="en-US" altLang="zh-CN" dirty="0"/>
              <a:t>AI Agent</a:t>
            </a:r>
            <a:endParaRPr lang="zh-CN" altLang="en-US" dirty="0"/>
          </a:p>
        </p:txBody>
      </p:sp>
      <p:sp>
        <p:nvSpPr>
          <p:cNvPr id="3" name="副标题 2">
            <a:extLst>
              <a:ext uri="{FF2B5EF4-FFF2-40B4-BE49-F238E27FC236}">
                <a16:creationId xmlns:a16="http://schemas.microsoft.com/office/drawing/2014/main" id="{26E1C0A8-D722-7071-8364-7C19D39CA47E}"/>
              </a:ext>
            </a:extLst>
          </p:cNvPr>
          <p:cNvSpPr>
            <a:spLocks noGrp="1"/>
          </p:cNvSpPr>
          <p:nvPr>
            <p:ph type="subTitle" idx="1"/>
          </p:nvPr>
        </p:nvSpPr>
        <p:spPr/>
        <p:txBody>
          <a:bodyPr/>
          <a:lstStyle/>
          <a:p>
            <a:r>
              <a:rPr lang="en-US" altLang="zh-CN" dirty="0"/>
              <a:t>All about AI Agent</a:t>
            </a:r>
            <a:endParaRPr lang="zh-CN" altLang="en-US" dirty="0"/>
          </a:p>
        </p:txBody>
      </p:sp>
    </p:spTree>
    <p:extLst>
      <p:ext uri="{BB962C8B-B14F-4D97-AF65-F5344CB8AC3E}">
        <p14:creationId xmlns:p14="http://schemas.microsoft.com/office/powerpoint/2010/main" val="2941442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479C5-D5BA-1F4A-2D04-BA83266833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858CCF-AC77-7B06-B5C7-DD17EA72EC07}"/>
              </a:ext>
            </a:extLst>
          </p:cNvPr>
          <p:cNvSpPr>
            <a:spLocks noGrp="1"/>
          </p:cNvSpPr>
          <p:nvPr>
            <p:ph type="title"/>
          </p:nvPr>
        </p:nvSpPr>
        <p:spPr>
          <a:xfrm>
            <a:off x="838200" y="125639"/>
            <a:ext cx="10515600" cy="1325563"/>
          </a:xfrm>
        </p:spPr>
        <p:txBody>
          <a:bodyPr/>
          <a:lstStyle/>
          <a:p>
            <a:r>
              <a:rPr lang="en-US" altLang="zh-CN" dirty="0"/>
              <a:t>Table of Content</a:t>
            </a:r>
          </a:p>
        </p:txBody>
      </p:sp>
      <p:sp>
        <p:nvSpPr>
          <p:cNvPr id="6" name="文本框 5">
            <a:extLst>
              <a:ext uri="{FF2B5EF4-FFF2-40B4-BE49-F238E27FC236}">
                <a16:creationId xmlns:a16="http://schemas.microsoft.com/office/drawing/2014/main" id="{37D66534-7025-4E0D-4559-60144A4262EA}"/>
              </a:ext>
            </a:extLst>
          </p:cNvPr>
          <p:cNvSpPr txBox="1"/>
          <p:nvPr/>
        </p:nvSpPr>
        <p:spPr>
          <a:xfrm>
            <a:off x="955503" y="1381794"/>
            <a:ext cx="10769601" cy="46564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dirty="0" err="1"/>
              <a:t>xxxx</a:t>
            </a:r>
            <a:endParaRPr lang="en-US" altLang="zh-CN" dirty="0"/>
          </a:p>
        </p:txBody>
      </p:sp>
    </p:spTree>
    <p:extLst>
      <p:ext uri="{BB962C8B-B14F-4D97-AF65-F5344CB8AC3E}">
        <p14:creationId xmlns:p14="http://schemas.microsoft.com/office/powerpoint/2010/main" val="2539204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9CD9A-20E2-3689-4C16-9185C9BCB5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02E0D93-52C5-03A5-D4DD-7391B9890DAA}"/>
              </a:ext>
            </a:extLst>
          </p:cNvPr>
          <p:cNvSpPr>
            <a:spLocks noGrp="1"/>
          </p:cNvSpPr>
          <p:nvPr>
            <p:ph type="title"/>
          </p:nvPr>
        </p:nvSpPr>
        <p:spPr>
          <a:xfrm>
            <a:off x="838200" y="125639"/>
            <a:ext cx="10515600" cy="1325563"/>
          </a:xfrm>
        </p:spPr>
        <p:txBody>
          <a:bodyPr/>
          <a:lstStyle/>
          <a:p>
            <a:r>
              <a:rPr lang="en-US" altLang="zh-CN" dirty="0"/>
              <a:t>What is Agent – Agent Components</a:t>
            </a:r>
          </a:p>
        </p:txBody>
      </p:sp>
      <p:sp>
        <p:nvSpPr>
          <p:cNvPr id="6" name="文本框 5">
            <a:extLst>
              <a:ext uri="{FF2B5EF4-FFF2-40B4-BE49-F238E27FC236}">
                <a16:creationId xmlns:a16="http://schemas.microsoft.com/office/drawing/2014/main" id="{65719F3C-F6C9-2F05-2EBE-7328DD4D8C3C}"/>
              </a:ext>
            </a:extLst>
          </p:cNvPr>
          <p:cNvSpPr txBox="1"/>
          <p:nvPr/>
        </p:nvSpPr>
        <p:spPr>
          <a:xfrm>
            <a:off x="955503" y="1381794"/>
            <a:ext cx="10769601" cy="2585323"/>
          </a:xfrm>
          <a:prstGeom prst="rect">
            <a:avLst/>
          </a:prstGeom>
          <a:noFill/>
        </p:spPr>
        <p:txBody>
          <a:bodyPr wrap="square">
            <a:spAutoFit/>
          </a:bodyPr>
          <a:lstStyle/>
          <a:p>
            <a:pPr marL="285750" indent="-285750" fontAlgn="ctr">
              <a:lnSpc>
                <a:spcPct val="150000"/>
              </a:lnSpc>
              <a:buFont typeface="Arial" panose="020B0604020202020204" pitchFamily="34" charset="0"/>
              <a:buChar char="•"/>
            </a:pPr>
            <a:r>
              <a:rPr lang="en-US" altLang="zh-CN" dirty="0"/>
              <a:t>The CORE: Agent Loop</a:t>
            </a:r>
          </a:p>
          <a:p>
            <a:pPr marL="742950" lvl="1" indent="-285750" fontAlgn="ctr">
              <a:lnSpc>
                <a:spcPct val="150000"/>
              </a:lnSpc>
              <a:buFont typeface="Arial" panose="020B0604020202020204" pitchFamily="34" charset="0"/>
              <a:buChar char="•"/>
            </a:pPr>
            <a:r>
              <a:rPr lang="en-US" altLang="zh-CN" dirty="0"/>
              <a:t>While Loop repeat: Prompt construction -&gt; Interact with LLM -&gt; Action</a:t>
            </a:r>
          </a:p>
          <a:p>
            <a:pPr marL="285750" indent="-285750" fontAlgn="ctr">
              <a:lnSpc>
                <a:spcPct val="150000"/>
              </a:lnSpc>
              <a:buFont typeface="Arial" panose="020B0604020202020204" pitchFamily="34" charset="0"/>
              <a:buChar char="•"/>
            </a:pPr>
            <a:r>
              <a:rPr lang="en-US" altLang="zh-CN" dirty="0"/>
              <a:t>From Engineering View</a:t>
            </a:r>
          </a:p>
          <a:p>
            <a:pPr marL="742950" lvl="1" indent="-285750" fontAlgn="ctr">
              <a:lnSpc>
                <a:spcPct val="150000"/>
              </a:lnSpc>
              <a:buFont typeface="Arial" panose="020B0604020202020204" pitchFamily="34" charset="0"/>
              <a:buChar char="•"/>
            </a:pPr>
            <a:r>
              <a:rPr lang="en-US" altLang="zh-CN" dirty="0"/>
              <a:t>Tools, Skill, MCP, Memory, Permission, Runtime status, Harness</a:t>
            </a:r>
          </a:p>
          <a:p>
            <a:pPr marL="285750" indent="-285750" fontAlgn="ctr">
              <a:lnSpc>
                <a:spcPct val="150000"/>
              </a:lnSpc>
              <a:buFont typeface="Arial" panose="020B0604020202020204" pitchFamily="34" charset="0"/>
              <a:buChar char="•"/>
            </a:pPr>
            <a:r>
              <a:rPr lang="en-US" altLang="zh-CN" dirty="0"/>
              <a:t>From Function View</a:t>
            </a:r>
          </a:p>
          <a:p>
            <a:pPr marL="742950" lvl="1" indent="-285750" fontAlgn="ctr">
              <a:lnSpc>
                <a:spcPct val="150000"/>
              </a:lnSpc>
              <a:buFont typeface="Arial" panose="020B0604020202020204" pitchFamily="34" charset="0"/>
              <a:buChar char="•"/>
            </a:pPr>
            <a:r>
              <a:rPr lang="en-US" altLang="zh-CN" dirty="0"/>
              <a:t>Perception -&gt; Brain -&gt; Action -&gt; Memory</a:t>
            </a:r>
          </a:p>
        </p:txBody>
      </p:sp>
    </p:spTree>
    <p:extLst>
      <p:ext uri="{BB962C8B-B14F-4D97-AF65-F5344CB8AC3E}">
        <p14:creationId xmlns:p14="http://schemas.microsoft.com/office/powerpoint/2010/main" val="2219933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2669-D147-3947-F4A1-DF6761131E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748713-F7CE-736F-D3A9-4EC4D91166CF}"/>
              </a:ext>
            </a:extLst>
          </p:cNvPr>
          <p:cNvSpPr>
            <a:spLocks noGrp="1"/>
          </p:cNvSpPr>
          <p:nvPr>
            <p:ph type="title"/>
          </p:nvPr>
        </p:nvSpPr>
        <p:spPr>
          <a:xfrm>
            <a:off x="838200" y="125639"/>
            <a:ext cx="10515600" cy="1325563"/>
          </a:xfrm>
        </p:spPr>
        <p:txBody>
          <a:bodyPr/>
          <a:lstStyle/>
          <a:p>
            <a:r>
              <a:rPr lang="en-US" altLang="zh-CN" dirty="0">
                <a:highlight>
                  <a:srgbClr val="FFFF00"/>
                </a:highlight>
              </a:rPr>
              <a:t>What is Agent </a:t>
            </a:r>
            <a:r>
              <a:rPr lang="en-US" altLang="zh-CN" dirty="0"/>
              <a:t>– How Agent Works</a:t>
            </a:r>
          </a:p>
        </p:txBody>
      </p:sp>
      <p:sp>
        <p:nvSpPr>
          <p:cNvPr id="6" name="文本框 5">
            <a:extLst>
              <a:ext uri="{FF2B5EF4-FFF2-40B4-BE49-F238E27FC236}">
                <a16:creationId xmlns:a16="http://schemas.microsoft.com/office/drawing/2014/main" id="{FA1EDF6E-00DE-1E1F-86BF-9BED757C0C24}"/>
              </a:ext>
            </a:extLst>
          </p:cNvPr>
          <p:cNvSpPr txBox="1"/>
          <p:nvPr/>
        </p:nvSpPr>
        <p:spPr>
          <a:xfrm>
            <a:off x="955503" y="1366722"/>
            <a:ext cx="10769601" cy="1754326"/>
          </a:xfrm>
          <a:prstGeom prst="rect">
            <a:avLst/>
          </a:prstGeom>
          <a:noFill/>
        </p:spPr>
        <p:txBody>
          <a:bodyPr wrap="square">
            <a:spAutoFit/>
          </a:bodyPr>
          <a:lstStyle/>
          <a:p>
            <a:pPr marL="285750" indent="-285750" fontAlgn="ctr">
              <a:lnSpc>
                <a:spcPct val="150000"/>
              </a:lnSpc>
              <a:buFont typeface="Arial" panose="020B0604020202020204" pitchFamily="34" charset="0"/>
              <a:buChar char="•"/>
            </a:pPr>
            <a:r>
              <a:rPr lang="en-US" altLang="zh-CN" dirty="0"/>
              <a:t>Perception</a:t>
            </a:r>
          </a:p>
          <a:p>
            <a:pPr marL="285750" indent="-285750" fontAlgn="ctr">
              <a:lnSpc>
                <a:spcPct val="150000"/>
              </a:lnSpc>
              <a:buFont typeface="Arial" panose="020B0604020202020204" pitchFamily="34" charset="0"/>
              <a:buChar char="•"/>
            </a:pPr>
            <a:r>
              <a:rPr lang="en-US" altLang="zh-CN" dirty="0"/>
              <a:t>Brain</a:t>
            </a:r>
          </a:p>
          <a:p>
            <a:pPr marL="285750" indent="-285750" fontAlgn="ctr">
              <a:lnSpc>
                <a:spcPct val="150000"/>
              </a:lnSpc>
              <a:buFont typeface="Arial" panose="020B0604020202020204" pitchFamily="34" charset="0"/>
              <a:buChar char="•"/>
            </a:pPr>
            <a:r>
              <a:rPr lang="en-US" altLang="zh-CN" dirty="0"/>
              <a:t>Action</a:t>
            </a:r>
          </a:p>
          <a:p>
            <a:pPr marL="285750" indent="-285750" fontAlgn="ctr">
              <a:lnSpc>
                <a:spcPct val="150000"/>
              </a:lnSpc>
              <a:buFont typeface="Arial" panose="020B0604020202020204" pitchFamily="34" charset="0"/>
              <a:buChar char="•"/>
            </a:pPr>
            <a:r>
              <a:rPr lang="en-US" altLang="zh-CN" dirty="0"/>
              <a:t>Memory</a:t>
            </a:r>
          </a:p>
        </p:txBody>
      </p:sp>
    </p:spTree>
    <p:extLst>
      <p:ext uri="{BB962C8B-B14F-4D97-AF65-F5344CB8AC3E}">
        <p14:creationId xmlns:p14="http://schemas.microsoft.com/office/powerpoint/2010/main" val="1251037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10DBA-D710-B10E-088E-F3E8097F7A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5FDD03A-15B5-35D9-6E3C-2AD0986E7FDA}"/>
              </a:ext>
            </a:extLst>
          </p:cNvPr>
          <p:cNvSpPr>
            <a:spLocks noGrp="1"/>
          </p:cNvSpPr>
          <p:nvPr>
            <p:ph type="title"/>
          </p:nvPr>
        </p:nvSpPr>
        <p:spPr>
          <a:xfrm>
            <a:off x="838200" y="125639"/>
            <a:ext cx="10515600" cy="1325563"/>
          </a:xfrm>
        </p:spPr>
        <p:txBody>
          <a:bodyPr/>
          <a:lstStyle/>
          <a:p>
            <a:r>
              <a:rPr lang="en-US" altLang="zh-CN" dirty="0"/>
              <a:t>What are Agent – Agent Types</a:t>
            </a:r>
          </a:p>
        </p:txBody>
      </p:sp>
      <p:sp>
        <p:nvSpPr>
          <p:cNvPr id="6" name="文本框 5">
            <a:extLst>
              <a:ext uri="{FF2B5EF4-FFF2-40B4-BE49-F238E27FC236}">
                <a16:creationId xmlns:a16="http://schemas.microsoft.com/office/drawing/2014/main" id="{C2951CDF-562C-0DDB-3631-71C4C86AC50F}"/>
              </a:ext>
            </a:extLst>
          </p:cNvPr>
          <p:cNvSpPr txBox="1"/>
          <p:nvPr/>
        </p:nvSpPr>
        <p:spPr>
          <a:xfrm>
            <a:off x="955503" y="1381794"/>
            <a:ext cx="10946445" cy="5078313"/>
          </a:xfrm>
          <a:prstGeom prst="rect">
            <a:avLst/>
          </a:prstGeom>
          <a:noFill/>
        </p:spPr>
        <p:txBody>
          <a:bodyPr wrap="square">
            <a:spAutoFit/>
          </a:bodyPr>
          <a:lstStyle/>
          <a:p>
            <a:pPr marL="285750" indent="-285750" fontAlgn="ctr">
              <a:lnSpc>
                <a:spcPct val="150000"/>
              </a:lnSpc>
              <a:buFont typeface="Arial" panose="020B0604020202020204" pitchFamily="34" charset="0"/>
              <a:buChar char="•"/>
            </a:pPr>
            <a:r>
              <a:rPr lang="en-US" altLang="zh-CN" dirty="0"/>
              <a:t>By Domain</a:t>
            </a:r>
          </a:p>
          <a:p>
            <a:pPr marL="742950" lvl="1" indent="-285750" fontAlgn="ctr">
              <a:lnSpc>
                <a:spcPct val="150000"/>
              </a:lnSpc>
              <a:buFont typeface="Arial" panose="020B0604020202020204" pitchFamily="34" charset="0"/>
              <a:buChar char="•"/>
            </a:pPr>
            <a:r>
              <a:rPr lang="en-US" altLang="zh-CN" dirty="0"/>
              <a:t>Coding [Claude Code], Web [Claude in Chrome], Data analysis [Julius], Research [Perplexity]</a:t>
            </a:r>
          </a:p>
          <a:p>
            <a:pPr marL="742950" lvl="1" indent="-285750" fontAlgn="ctr">
              <a:lnSpc>
                <a:spcPct val="150000"/>
              </a:lnSpc>
              <a:buFont typeface="Arial" panose="020B0604020202020204" pitchFamily="34" charset="0"/>
              <a:buChar char="•"/>
            </a:pPr>
            <a:r>
              <a:rPr lang="en-US" altLang="zh-CN" dirty="0"/>
              <a:t>Productivity [Notion AI], Customer support [Intercom], DevOps &amp; Infra [PagerDuty], Finance [</a:t>
            </a:r>
            <a:r>
              <a:rPr lang="en-US" altLang="zh-CN" dirty="0" err="1"/>
              <a:t>FinAgent</a:t>
            </a:r>
            <a:r>
              <a:rPr lang="en-US" altLang="zh-CN" dirty="0"/>
              <a:t>]</a:t>
            </a:r>
          </a:p>
          <a:p>
            <a:pPr marL="285750" indent="-285750" fontAlgn="ctr">
              <a:lnSpc>
                <a:spcPct val="150000"/>
              </a:lnSpc>
              <a:buFont typeface="Arial" panose="020B0604020202020204" pitchFamily="34" charset="0"/>
              <a:buChar char="•"/>
            </a:pPr>
            <a:r>
              <a:rPr lang="en-US" altLang="zh-CN" dirty="0"/>
              <a:t>By Autonomy Level</a:t>
            </a:r>
          </a:p>
          <a:p>
            <a:pPr marL="742950" lvl="1" indent="-285750" fontAlgn="ctr">
              <a:lnSpc>
                <a:spcPct val="150000"/>
              </a:lnSpc>
              <a:buFont typeface="Arial" panose="020B0604020202020204" pitchFamily="34" charset="0"/>
              <a:buChar char="•"/>
            </a:pPr>
            <a:r>
              <a:rPr lang="en-US" altLang="zh-CN" dirty="0"/>
              <a:t>Copilot -&gt; Supervised Agent -&gt; Conditional Agent -&gt; Autonomous Agent -&gt; MAS swarm</a:t>
            </a:r>
          </a:p>
          <a:p>
            <a:pPr marL="285750" indent="-285750" fontAlgn="ctr">
              <a:lnSpc>
                <a:spcPct val="150000"/>
              </a:lnSpc>
              <a:buFont typeface="Arial" panose="020B0604020202020204" pitchFamily="34" charset="0"/>
              <a:buChar char="•"/>
            </a:pPr>
            <a:r>
              <a:rPr lang="en-US" altLang="zh-CN" dirty="0"/>
              <a:t>By interaction</a:t>
            </a:r>
          </a:p>
          <a:p>
            <a:pPr marL="742950" lvl="1" indent="-285750" fontAlgn="ctr">
              <a:lnSpc>
                <a:spcPct val="150000"/>
              </a:lnSpc>
              <a:buFont typeface="Arial" panose="020B0604020202020204" pitchFamily="34" charset="0"/>
              <a:buChar char="•"/>
            </a:pPr>
            <a:r>
              <a:rPr lang="en-US" altLang="zh-CN" dirty="0"/>
              <a:t>Chat-based, Voice, IDE-integrated, Embodied, Computer-use</a:t>
            </a:r>
          </a:p>
          <a:p>
            <a:pPr marL="742950" lvl="1" indent="-285750" fontAlgn="ctr">
              <a:lnSpc>
                <a:spcPct val="150000"/>
              </a:lnSpc>
              <a:buFont typeface="Arial" panose="020B0604020202020204" pitchFamily="34" charset="0"/>
              <a:buChar char="•"/>
            </a:pPr>
            <a:endParaRPr lang="en-US" altLang="zh-CN" dirty="0"/>
          </a:p>
          <a:p>
            <a:pPr marL="285750" indent="-285750" fontAlgn="ctr">
              <a:lnSpc>
                <a:spcPct val="150000"/>
              </a:lnSpc>
              <a:buFont typeface="Arial" panose="020B0604020202020204" pitchFamily="34" charset="0"/>
              <a:buChar char="•"/>
            </a:pPr>
            <a:r>
              <a:rPr lang="en-US" altLang="zh-CN" dirty="0"/>
              <a:t>Workflow/enterprise Agent (agent integrated to existing workflow)</a:t>
            </a:r>
          </a:p>
          <a:p>
            <a:pPr marL="742950" lvl="1" indent="-285750" fontAlgn="ctr">
              <a:lnSpc>
                <a:spcPct val="150000"/>
              </a:lnSpc>
              <a:buFont typeface="Arial" panose="020B0604020202020204" pitchFamily="34" charset="0"/>
              <a:buChar char="•"/>
            </a:pPr>
            <a:r>
              <a:rPr lang="en-US" altLang="zh-CN" dirty="0"/>
              <a:t>Salesforce </a:t>
            </a:r>
            <a:r>
              <a:rPr lang="en-US" altLang="zh-CN" dirty="0" err="1"/>
              <a:t>AgentForce</a:t>
            </a:r>
            <a:endParaRPr lang="en-US" altLang="zh-CN" dirty="0"/>
          </a:p>
          <a:p>
            <a:pPr marL="742950" lvl="1" indent="-285750" fontAlgn="ctr">
              <a:lnSpc>
                <a:spcPct val="150000"/>
              </a:lnSpc>
              <a:buFont typeface="Arial" panose="020B0604020202020204" pitchFamily="34" charset="0"/>
              <a:buChar char="•"/>
            </a:pPr>
            <a:r>
              <a:rPr lang="en-US" altLang="zh-CN" dirty="0"/>
              <a:t>Cloud - Gemini Enterprise Agent Platform…</a:t>
            </a:r>
          </a:p>
          <a:p>
            <a:pPr marL="285750" indent="-285750" fontAlgn="ctr">
              <a:lnSpc>
                <a:spcPct val="150000"/>
              </a:lnSpc>
              <a:buFont typeface="Arial" panose="020B0604020202020204" pitchFamily="34" charset="0"/>
              <a:buChar char="•"/>
            </a:pPr>
            <a:endParaRPr lang="en-US" altLang="zh-CN" dirty="0"/>
          </a:p>
        </p:txBody>
      </p:sp>
    </p:spTree>
    <p:extLst>
      <p:ext uri="{BB962C8B-B14F-4D97-AF65-F5344CB8AC3E}">
        <p14:creationId xmlns:p14="http://schemas.microsoft.com/office/powerpoint/2010/main" val="3396428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0E8AE-B3FD-7465-76B4-41CD13E6F1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D15438-FD39-7158-461C-B07583A26073}"/>
              </a:ext>
            </a:extLst>
          </p:cNvPr>
          <p:cNvSpPr>
            <a:spLocks noGrp="1"/>
          </p:cNvSpPr>
          <p:nvPr>
            <p:ph type="title"/>
          </p:nvPr>
        </p:nvSpPr>
        <p:spPr>
          <a:xfrm>
            <a:off x="838200" y="125639"/>
            <a:ext cx="10515600" cy="1325563"/>
          </a:xfrm>
        </p:spPr>
        <p:txBody>
          <a:bodyPr/>
          <a:lstStyle/>
          <a:p>
            <a:r>
              <a:rPr lang="en-US" altLang="zh-CN" dirty="0">
                <a:highlight>
                  <a:srgbClr val="FFFF00"/>
                </a:highlight>
              </a:rPr>
              <a:t>RAG</a:t>
            </a:r>
          </a:p>
        </p:txBody>
      </p:sp>
      <p:sp>
        <p:nvSpPr>
          <p:cNvPr id="6" name="文本框 5">
            <a:extLst>
              <a:ext uri="{FF2B5EF4-FFF2-40B4-BE49-F238E27FC236}">
                <a16:creationId xmlns:a16="http://schemas.microsoft.com/office/drawing/2014/main" id="{34F3076B-5549-D05C-41E8-0681AF3CBD52}"/>
              </a:ext>
            </a:extLst>
          </p:cNvPr>
          <p:cNvSpPr txBox="1"/>
          <p:nvPr/>
        </p:nvSpPr>
        <p:spPr>
          <a:xfrm>
            <a:off x="955503" y="1381794"/>
            <a:ext cx="10946445" cy="507831"/>
          </a:xfrm>
          <a:prstGeom prst="rect">
            <a:avLst/>
          </a:prstGeom>
          <a:noFill/>
        </p:spPr>
        <p:txBody>
          <a:bodyPr wrap="square">
            <a:spAutoFit/>
          </a:bodyPr>
          <a:lstStyle/>
          <a:p>
            <a:pPr marL="285750" indent="-285750" fontAlgn="ctr">
              <a:lnSpc>
                <a:spcPct val="150000"/>
              </a:lnSpc>
              <a:buFont typeface="Arial" panose="020B0604020202020204" pitchFamily="34" charset="0"/>
              <a:buChar char="•"/>
            </a:pPr>
            <a:r>
              <a:rPr lang="en-US" altLang="zh-CN" dirty="0"/>
              <a:t>Just use RAG for finding notes? Do we need agent for it? [Company documentation finding]</a:t>
            </a:r>
          </a:p>
        </p:txBody>
      </p:sp>
    </p:spTree>
    <p:extLst>
      <p:ext uri="{BB962C8B-B14F-4D97-AF65-F5344CB8AC3E}">
        <p14:creationId xmlns:p14="http://schemas.microsoft.com/office/powerpoint/2010/main" val="1915563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39E3B-754A-6D3A-B76E-5B86B359BF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9E7E2D-357D-F649-6FAA-E43381336FD4}"/>
              </a:ext>
            </a:extLst>
          </p:cNvPr>
          <p:cNvSpPr>
            <a:spLocks noGrp="1"/>
          </p:cNvSpPr>
          <p:nvPr>
            <p:ph type="title"/>
          </p:nvPr>
        </p:nvSpPr>
        <p:spPr>
          <a:xfrm>
            <a:off x="838200" y="125639"/>
            <a:ext cx="10515600" cy="1325563"/>
          </a:xfrm>
        </p:spPr>
        <p:txBody>
          <a:bodyPr/>
          <a:lstStyle/>
          <a:p>
            <a:r>
              <a:rPr lang="en-US" altLang="zh-CN" dirty="0">
                <a:highlight>
                  <a:srgbClr val="FFFF00"/>
                </a:highlight>
              </a:rPr>
              <a:t>Agent P</a:t>
            </a:r>
            <a:r>
              <a:rPr lang="en-US" altLang="zh-CN" dirty="0"/>
              <a:t>rotocol</a:t>
            </a:r>
          </a:p>
        </p:txBody>
      </p:sp>
      <p:sp>
        <p:nvSpPr>
          <p:cNvPr id="6" name="文本框 5">
            <a:extLst>
              <a:ext uri="{FF2B5EF4-FFF2-40B4-BE49-F238E27FC236}">
                <a16:creationId xmlns:a16="http://schemas.microsoft.com/office/drawing/2014/main" id="{5EE30FBA-EBCC-604E-3443-7B7AA4B4083E}"/>
              </a:ext>
            </a:extLst>
          </p:cNvPr>
          <p:cNvSpPr txBox="1"/>
          <p:nvPr/>
        </p:nvSpPr>
        <p:spPr>
          <a:xfrm>
            <a:off x="955503" y="1381794"/>
            <a:ext cx="10769601" cy="88113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dirty="0"/>
              <a:t>MCP</a:t>
            </a:r>
            <a:r>
              <a:rPr lang="en-US" altLang="zh-CN" dirty="0"/>
              <a:t> (Model Context Protocol)</a:t>
            </a:r>
          </a:p>
          <a:p>
            <a:pPr marL="285750" indent="-285750">
              <a:lnSpc>
                <a:spcPct val="150000"/>
              </a:lnSpc>
              <a:buFont typeface="Arial" panose="020B0604020202020204" pitchFamily="34" charset="0"/>
              <a:buChar char="•"/>
            </a:pPr>
            <a:r>
              <a:rPr lang="en-US" altLang="zh-CN" b="1" dirty="0"/>
              <a:t>A2A</a:t>
            </a:r>
            <a:r>
              <a:rPr lang="en-US" altLang="zh-CN" dirty="0"/>
              <a:t> (Agent-to-Agent)</a:t>
            </a:r>
          </a:p>
        </p:txBody>
      </p:sp>
    </p:spTree>
    <p:extLst>
      <p:ext uri="{BB962C8B-B14F-4D97-AF65-F5344CB8AC3E}">
        <p14:creationId xmlns:p14="http://schemas.microsoft.com/office/powerpoint/2010/main" val="1529009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305CC-21EB-9865-621A-CF18F854794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E7A312-B657-6B4B-4B5A-F34E70207891}"/>
              </a:ext>
            </a:extLst>
          </p:cNvPr>
          <p:cNvSpPr>
            <a:spLocks noGrp="1"/>
          </p:cNvSpPr>
          <p:nvPr>
            <p:ph type="title"/>
          </p:nvPr>
        </p:nvSpPr>
        <p:spPr>
          <a:xfrm>
            <a:off x="838200" y="125639"/>
            <a:ext cx="10515600" cy="1325563"/>
          </a:xfrm>
        </p:spPr>
        <p:txBody>
          <a:bodyPr/>
          <a:lstStyle/>
          <a:p>
            <a:r>
              <a:rPr lang="en-US" altLang="zh-CN" dirty="0"/>
              <a:t>How to Build Agent</a:t>
            </a:r>
          </a:p>
        </p:txBody>
      </p:sp>
      <p:sp>
        <p:nvSpPr>
          <p:cNvPr id="6" name="文本框 5">
            <a:extLst>
              <a:ext uri="{FF2B5EF4-FFF2-40B4-BE49-F238E27FC236}">
                <a16:creationId xmlns:a16="http://schemas.microsoft.com/office/drawing/2014/main" id="{F166AC13-4858-9A03-5A74-67AF70ABA42F}"/>
              </a:ext>
            </a:extLst>
          </p:cNvPr>
          <p:cNvSpPr txBox="1"/>
          <p:nvPr/>
        </p:nvSpPr>
        <p:spPr>
          <a:xfrm>
            <a:off x="955503" y="1381794"/>
            <a:ext cx="10769601" cy="254313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dirty="0"/>
              <a:t>HTTP API</a:t>
            </a:r>
            <a:r>
              <a:rPr lang="en-US" altLang="zh-CN" dirty="0"/>
              <a:t> — directly call the model provider's REST endpoint.</a:t>
            </a:r>
          </a:p>
          <a:p>
            <a:pPr marL="285750" indent="-285750">
              <a:lnSpc>
                <a:spcPct val="150000"/>
              </a:lnSpc>
              <a:buFont typeface="Arial" panose="020B0604020202020204" pitchFamily="34" charset="0"/>
              <a:buChar char="•"/>
            </a:pPr>
            <a:r>
              <a:rPr lang="en-US" altLang="zh-CN" b="1" dirty="0"/>
              <a:t>Python SDK</a:t>
            </a:r>
            <a:r>
              <a:rPr lang="en-US" altLang="zh-CN" dirty="0"/>
              <a:t> (e.g. </a:t>
            </a:r>
            <a:r>
              <a:rPr lang="en-US" altLang="zh-CN" dirty="0" err="1"/>
              <a:t>openai</a:t>
            </a:r>
            <a:r>
              <a:rPr lang="en-US" altLang="zh-CN" dirty="0"/>
              <a:t>, anthropic) — typed bindings around the API.</a:t>
            </a:r>
          </a:p>
          <a:p>
            <a:pPr marL="285750" indent="-285750">
              <a:lnSpc>
                <a:spcPct val="150000"/>
              </a:lnSpc>
              <a:buFont typeface="Arial" panose="020B0604020202020204" pitchFamily="34" charset="0"/>
              <a:buChar char="•"/>
            </a:pPr>
            <a:r>
              <a:rPr lang="en-US" altLang="zh-CN" b="1" dirty="0"/>
              <a:t>Provider Agent SDK</a:t>
            </a:r>
            <a:r>
              <a:rPr lang="en-US" altLang="zh-CN" dirty="0"/>
              <a:t> (Claude Agent SDK, Swarm, Google ADK)</a:t>
            </a:r>
          </a:p>
          <a:p>
            <a:pPr marL="285750" indent="-285750">
              <a:lnSpc>
                <a:spcPct val="150000"/>
              </a:lnSpc>
              <a:buFont typeface="Arial" panose="020B0604020202020204" pitchFamily="34" charset="0"/>
              <a:buChar char="•"/>
            </a:pPr>
            <a:r>
              <a:rPr lang="en-US" altLang="zh-CN" b="1" dirty="0"/>
              <a:t>AI Framework</a:t>
            </a:r>
            <a:r>
              <a:rPr lang="en-US" altLang="zh-CN" dirty="0"/>
              <a:t> (LangChain, </a:t>
            </a:r>
            <a:r>
              <a:rPr lang="en-US" altLang="zh-CN" dirty="0" err="1"/>
              <a:t>LangGraph</a:t>
            </a:r>
            <a:r>
              <a:rPr lang="en-US" altLang="zh-CN" dirty="0"/>
              <a:t>, </a:t>
            </a:r>
            <a:r>
              <a:rPr lang="en-US" altLang="zh-CN" dirty="0" err="1"/>
              <a:t>AutoGen</a:t>
            </a:r>
            <a:r>
              <a:rPr lang="en-US" altLang="zh-CN" dirty="0"/>
              <a:t>, </a:t>
            </a:r>
            <a:r>
              <a:rPr lang="en-US" altLang="zh-CN" dirty="0" err="1"/>
              <a:t>CrewAI</a:t>
            </a:r>
            <a:r>
              <a:rPr lang="en-US" altLang="zh-CN" dirty="0"/>
              <a:t>, Cloud SDK)</a:t>
            </a:r>
          </a:p>
          <a:p>
            <a:pPr marL="285750" indent="-285750">
              <a:lnSpc>
                <a:spcPct val="150000"/>
              </a:lnSpc>
              <a:buFont typeface="Arial" panose="020B0604020202020204" pitchFamily="34" charset="0"/>
              <a:buChar char="•"/>
            </a:pPr>
            <a:r>
              <a:rPr lang="en-US" altLang="zh-CN" b="1" dirty="0"/>
              <a:t>Low-code platform</a:t>
            </a:r>
            <a:r>
              <a:rPr lang="en-US" altLang="zh-CN" dirty="0"/>
              <a:t> (</a:t>
            </a:r>
            <a:r>
              <a:rPr lang="en-US" altLang="zh-CN" dirty="0" err="1"/>
              <a:t>Dify</a:t>
            </a:r>
            <a:r>
              <a:rPr lang="en-US" altLang="zh-CN" dirty="0"/>
              <a:t>, </a:t>
            </a:r>
            <a:r>
              <a:rPr lang="en-US" altLang="zh-CN" dirty="0" err="1"/>
              <a:t>Coze</a:t>
            </a:r>
            <a:r>
              <a:rPr lang="en-US" altLang="zh-CN" dirty="0"/>
              <a:t>, n8n, </a:t>
            </a:r>
            <a:r>
              <a:rPr lang="en-US" altLang="zh-CN" dirty="0" err="1"/>
              <a:t>FastGPT</a:t>
            </a:r>
            <a:r>
              <a:rPr lang="en-US" altLang="zh-CN" dirty="0"/>
              <a:t>, Claude Managed Platform)</a:t>
            </a:r>
          </a:p>
          <a:p>
            <a:pPr marL="285750" indent="-285750">
              <a:lnSpc>
                <a:spcPct val="150000"/>
              </a:lnSpc>
              <a:buFont typeface="Arial" panose="020B0604020202020204" pitchFamily="34" charset="0"/>
              <a:buChar char="•"/>
            </a:pPr>
            <a:r>
              <a:rPr lang="en-US" altLang="zh-CN" b="1" dirty="0"/>
              <a:t>AI Agent SDK</a:t>
            </a:r>
            <a:r>
              <a:rPr lang="en-US" altLang="zh-CN" dirty="0"/>
              <a:t> (e.g. Cursor SDK) — pre-packaged agents you embed into a host product.</a:t>
            </a:r>
          </a:p>
        </p:txBody>
      </p:sp>
    </p:spTree>
    <p:extLst>
      <p:ext uri="{BB962C8B-B14F-4D97-AF65-F5344CB8AC3E}">
        <p14:creationId xmlns:p14="http://schemas.microsoft.com/office/powerpoint/2010/main" val="879033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1019E-8353-3460-88AF-6FE33F3818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FD66C0-3EA3-0FF5-140E-D461DAD6DF93}"/>
              </a:ext>
            </a:extLst>
          </p:cNvPr>
          <p:cNvSpPr>
            <a:spLocks noGrp="1"/>
          </p:cNvSpPr>
          <p:nvPr>
            <p:ph type="title"/>
          </p:nvPr>
        </p:nvSpPr>
        <p:spPr>
          <a:xfrm>
            <a:off x="838200" y="125639"/>
            <a:ext cx="10515600" cy="1325563"/>
          </a:xfrm>
        </p:spPr>
        <p:txBody>
          <a:bodyPr/>
          <a:lstStyle/>
          <a:p>
            <a:r>
              <a:rPr lang="en-US" altLang="zh-CN" dirty="0"/>
              <a:t>Where Agent are Deployed</a:t>
            </a:r>
          </a:p>
        </p:txBody>
      </p:sp>
      <p:sp>
        <p:nvSpPr>
          <p:cNvPr id="6" name="文本框 5">
            <a:extLst>
              <a:ext uri="{FF2B5EF4-FFF2-40B4-BE49-F238E27FC236}">
                <a16:creationId xmlns:a16="http://schemas.microsoft.com/office/drawing/2014/main" id="{8F897498-7B65-D754-BD80-2C76754EB865}"/>
              </a:ext>
            </a:extLst>
          </p:cNvPr>
          <p:cNvSpPr txBox="1"/>
          <p:nvPr/>
        </p:nvSpPr>
        <p:spPr>
          <a:xfrm>
            <a:off x="955503" y="1381794"/>
            <a:ext cx="10769601" cy="5493812"/>
          </a:xfrm>
          <a:prstGeom prst="rect">
            <a:avLst/>
          </a:prstGeom>
          <a:noFill/>
        </p:spPr>
        <p:txBody>
          <a:bodyPr wrap="square">
            <a:spAutoFit/>
          </a:bodyPr>
          <a:lstStyle/>
          <a:p>
            <a:pPr marL="285750" indent="-285750" fontAlgn="ctr">
              <a:lnSpc>
                <a:spcPct val="150000"/>
              </a:lnSpc>
              <a:buFont typeface="Arial" panose="020B0604020202020204" pitchFamily="34" charset="0"/>
              <a:buChar char="•"/>
            </a:pPr>
            <a:r>
              <a:rPr lang="en-US" altLang="zh-CN" dirty="0"/>
              <a:t>By Location</a:t>
            </a:r>
          </a:p>
          <a:p>
            <a:pPr marL="742950" lvl="1" indent="-285750" fontAlgn="ctr">
              <a:lnSpc>
                <a:spcPct val="150000"/>
              </a:lnSpc>
              <a:buFont typeface="Arial" panose="020B0604020202020204" pitchFamily="34" charset="0"/>
              <a:buChar char="•"/>
            </a:pPr>
            <a:r>
              <a:rPr lang="en-US" altLang="zh-CN" dirty="0"/>
              <a:t>Cloud</a:t>
            </a:r>
          </a:p>
          <a:p>
            <a:pPr marL="742950" lvl="1" indent="-285750" fontAlgn="ctr">
              <a:lnSpc>
                <a:spcPct val="150000"/>
              </a:lnSpc>
              <a:buFont typeface="Arial" panose="020B0604020202020204" pitchFamily="34" charset="0"/>
              <a:buChar char="•"/>
            </a:pPr>
            <a:r>
              <a:rPr lang="en-US" altLang="zh-CN" dirty="0"/>
              <a:t>On-premises </a:t>
            </a:r>
          </a:p>
          <a:p>
            <a:pPr marL="742950" lvl="1" indent="-285750" fontAlgn="ctr">
              <a:lnSpc>
                <a:spcPct val="150000"/>
              </a:lnSpc>
              <a:buFont typeface="Arial" panose="020B0604020202020204" pitchFamily="34" charset="0"/>
              <a:buChar char="•"/>
            </a:pPr>
            <a:r>
              <a:rPr lang="en-US" altLang="zh-CN" dirty="0"/>
              <a:t>Edge/Local (Desktop, Desktop OS, Phone…)</a:t>
            </a:r>
          </a:p>
          <a:p>
            <a:pPr marL="742950" lvl="1" indent="-285750" fontAlgn="ctr">
              <a:lnSpc>
                <a:spcPct val="150000"/>
              </a:lnSpc>
              <a:buFont typeface="Arial" panose="020B0604020202020204" pitchFamily="34" charset="0"/>
              <a:buChar char="•"/>
            </a:pPr>
            <a:r>
              <a:rPr lang="en-US" altLang="zh-CN" dirty="0"/>
              <a:t>IoT</a:t>
            </a:r>
          </a:p>
          <a:p>
            <a:pPr marL="742950" lvl="1" indent="-285750" fontAlgn="ctr">
              <a:lnSpc>
                <a:spcPct val="150000"/>
              </a:lnSpc>
              <a:buFont typeface="Arial" panose="020B0604020202020204" pitchFamily="34" charset="0"/>
              <a:buChar char="•"/>
            </a:pPr>
            <a:r>
              <a:rPr lang="en-US" altLang="zh-CN" dirty="0"/>
              <a:t>Enterprise workflow (CI/CD)</a:t>
            </a:r>
          </a:p>
          <a:p>
            <a:pPr marL="742950" lvl="1" indent="-285750" fontAlgn="ctr">
              <a:lnSpc>
                <a:spcPct val="150000"/>
              </a:lnSpc>
              <a:buFont typeface="Arial" panose="020B0604020202020204" pitchFamily="34" charset="0"/>
              <a:buChar char="•"/>
            </a:pPr>
            <a:r>
              <a:rPr lang="en-US" altLang="zh-CN" dirty="0"/>
              <a:t>Browser</a:t>
            </a:r>
          </a:p>
          <a:p>
            <a:pPr marL="742950" lvl="1" indent="-285750" fontAlgn="ctr">
              <a:lnSpc>
                <a:spcPct val="150000"/>
              </a:lnSpc>
              <a:buFont typeface="Arial" panose="020B0604020202020204" pitchFamily="34" charset="0"/>
              <a:buChar char="•"/>
            </a:pPr>
            <a:r>
              <a:rPr lang="en-US" altLang="zh-CN" dirty="0"/>
              <a:t>In Apps</a:t>
            </a:r>
          </a:p>
          <a:p>
            <a:pPr marL="742950" lvl="1" indent="-285750" fontAlgn="ctr">
              <a:lnSpc>
                <a:spcPct val="150000"/>
              </a:lnSpc>
              <a:buFont typeface="Arial" panose="020B0604020202020204" pitchFamily="34" charset="0"/>
              <a:buChar char="•"/>
            </a:pPr>
            <a:r>
              <a:rPr lang="en-US" altLang="zh-CN" dirty="0"/>
              <a:t>Embeddied Device</a:t>
            </a:r>
          </a:p>
          <a:p>
            <a:pPr marL="285750" indent="-285750" fontAlgn="ctr">
              <a:lnSpc>
                <a:spcPct val="150000"/>
              </a:lnSpc>
              <a:buFont typeface="Arial" panose="020B0604020202020204" pitchFamily="34" charset="0"/>
              <a:buChar char="•"/>
            </a:pPr>
            <a:endParaRPr lang="en-US" altLang="zh-CN" dirty="0"/>
          </a:p>
          <a:p>
            <a:pPr marL="285750" indent="-285750" fontAlgn="ctr">
              <a:lnSpc>
                <a:spcPct val="150000"/>
              </a:lnSpc>
              <a:buFont typeface="Arial" panose="020B0604020202020204" pitchFamily="34" charset="0"/>
              <a:buChar char="•"/>
            </a:pPr>
            <a:r>
              <a:rPr lang="en-US" altLang="zh-CN" dirty="0"/>
              <a:t>By Method</a:t>
            </a:r>
          </a:p>
          <a:p>
            <a:pPr marL="742950" lvl="1" indent="-285750" fontAlgn="ctr">
              <a:lnSpc>
                <a:spcPct val="150000"/>
              </a:lnSpc>
              <a:buFont typeface="Arial" panose="020B0604020202020204" pitchFamily="34" charset="0"/>
              <a:buChar char="•"/>
            </a:pPr>
            <a:r>
              <a:rPr lang="en-US" altLang="zh-CN" dirty="0"/>
              <a:t>Bare metal -&gt; VM -&gt; Container -&gt; Sandbox -&gt; WASM / Micro-VM</a:t>
            </a:r>
          </a:p>
          <a:p>
            <a:pPr marL="285750" indent="-285750" fontAlgn="ctr">
              <a:lnSpc>
                <a:spcPct val="150000"/>
              </a:lnSpc>
              <a:buFont typeface="Arial" panose="020B0604020202020204" pitchFamily="34" charset="0"/>
              <a:buChar char="•"/>
            </a:pPr>
            <a:endParaRPr lang="en-US" altLang="zh-CN" dirty="0"/>
          </a:p>
        </p:txBody>
      </p:sp>
    </p:spTree>
    <p:extLst>
      <p:ext uri="{BB962C8B-B14F-4D97-AF65-F5344CB8AC3E}">
        <p14:creationId xmlns:p14="http://schemas.microsoft.com/office/powerpoint/2010/main" val="227982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3B907-D308-3706-780B-6F253D572A4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26F996-E4E8-A183-8CAF-C70AB93A7683}"/>
              </a:ext>
            </a:extLst>
          </p:cNvPr>
          <p:cNvSpPr>
            <a:spLocks noGrp="1"/>
          </p:cNvSpPr>
          <p:nvPr>
            <p:ph type="title"/>
          </p:nvPr>
        </p:nvSpPr>
        <p:spPr>
          <a:xfrm>
            <a:off x="838200" y="125639"/>
            <a:ext cx="10515600" cy="1325563"/>
          </a:xfrm>
        </p:spPr>
        <p:txBody>
          <a:bodyPr/>
          <a:lstStyle/>
          <a:p>
            <a:r>
              <a:rPr lang="en-US" altLang="zh-CN" dirty="0">
                <a:highlight>
                  <a:srgbClr val="FFFF00"/>
                </a:highlight>
              </a:rPr>
              <a:t>Agent Deploy</a:t>
            </a:r>
            <a:r>
              <a:rPr lang="en-US" altLang="zh-CN" dirty="0"/>
              <a:t>ment Challenges</a:t>
            </a:r>
          </a:p>
        </p:txBody>
      </p:sp>
      <p:sp>
        <p:nvSpPr>
          <p:cNvPr id="6" name="文本框 5">
            <a:extLst>
              <a:ext uri="{FF2B5EF4-FFF2-40B4-BE49-F238E27FC236}">
                <a16:creationId xmlns:a16="http://schemas.microsoft.com/office/drawing/2014/main" id="{313EA662-9CC2-3588-C73B-F9A3050785EA}"/>
              </a:ext>
            </a:extLst>
          </p:cNvPr>
          <p:cNvSpPr txBox="1"/>
          <p:nvPr/>
        </p:nvSpPr>
        <p:spPr>
          <a:xfrm>
            <a:off x="955503" y="1381794"/>
            <a:ext cx="10769601" cy="295863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dirty="0"/>
              <a:t>Runnability</a:t>
            </a:r>
            <a:r>
              <a:rPr lang="en-US" altLang="zh-CN" dirty="0"/>
              <a:t> — does it actually start and stay up?</a:t>
            </a:r>
          </a:p>
          <a:p>
            <a:pPr marL="285750" indent="-285750">
              <a:lnSpc>
                <a:spcPct val="150000"/>
              </a:lnSpc>
              <a:buFont typeface="Arial" panose="020B0604020202020204" pitchFamily="34" charset="0"/>
              <a:buChar char="•"/>
            </a:pPr>
            <a:r>
              <a:rPr lang="en-US" altLang="zh-CN" b="1" dirty="0"/>
              <a:t>User intent capture</a:t>
            </a:r>
            <a:r>
              <a:rPr lang="en-US" altLang="zh-CN" dirty="0"/>
              <a:t> — clear contract for what the agent should and should not attempt.</a:t>
            </a:r>
          </a:p>
          <a:p>
            <a:pPr marL="285750" indent="-285750">
              <a:lnSpc>
                <a:spcPct val="150000"/>
              </a:lnSpc>
              <a:buFont typeface="Arial" panose="020B0604020202020204" pitchFamily="34" charset="0"/>
              <a:buChar char="•"/>
            </a:pPr>
            <a:r>
              <a:rPr lang="en-US" altLang="zh-CN" b="1" dirty="0"/>
              <a:t>Security policy practices</a:t>
            </a:r>
            <a:r>
              <a:rPr lang="en-US" altLang="zh-CN" dirty="0"/>
              <a:t> — least privilege, sandbox configs, audit logs.</a:t>
            </a:r>
          </a:p>
          <a:p>
            <a:pPr marL="285750" indent="-285750">
              <a:lnSpc>
                <a:spcPct val="150000"/>
              </a:lnSpc>
              <a:buFont typeface="Arial" panose="020B0604020202020204" pitchFamily="34" charset="0"/>
              <a:buChar char="•"/>
            </a:pPr>
            <a:r>
              <a:rPr lang="en-US" altLang="zh-CN" b="1" dirty="0"/>
              <a:t>Cost</a:t>
            </a:r>
            <a:r>
              <a:rPr lang="en-US" altLang="zh-CN" dirty="0"/>
              <a:t> — both economic (tokens, infra) and time (latency).</a:t>
            </a:r>
          </a:p>
          <a:p>
            <a:pPr marL="285750" indent="-285750">
              <a:lnSpc>
                <a:spcPct val="150000"/>
              </a:lnSpc>
              <a:buFont typeface="Arial" panose="020B0604020202020204" pitchFamily="34" charset="0"/>
              <a:buChar char="•"/>
            </a:pPr>
            <a:r>
              <a:rPr lang="en-US" altLang="zh-CN" b="1" dirty="0"/>
              <a:t>Maintenance</a:t>
            </a:r>
            <a:r>
              <a:rPr lang="en-US" altLang="zh-CN" dirty="0"/>
              <a:t> — model upgrades, prompt drift, tool schema changes.</a:t>
            </a:r>
          </a:p>
          <a:p>
            <a:pPr marL="285750" indent="-285750">
              <a:lnSpc>
                <a:spcPct val="150000"/>
              </a:lnSpc>
              <a:buFont typeface="Arial" panose="020B0604020202020204" pitchFamily="34" charset="0"/>
              <a:buChar char="•"/>
            </a:pPr>
            <a:r>
              <a:rPr lang="en-US" altLang="zh-CN" b="1" dirty="0"/>
              <a:t>Runtime security</a:t>
            </a:r>
            <a:r>
              <a:rPr lang="en-US" altLang="zh-CN" dirty="0"/>
              <a:t> — defense against prompt injection, tool-call abuse, sandbox escape.</a:t>
            </a:r>
          </a:p>
          <a:p>
            <a:pPr marL="285750" indent="-285750">
              <a:lnSpc>
                <a:spcPct val="150000"/>
              </a:lnSpc>
              <a:buFont typeface="Arial" panose="020B0604020202020204" pitchFamily="34" charset="0"/>
              <a:buChar char="•"/>
            </a:pPr>
            <a:r>
              <a:rPr lang="en-US" altLang="zh-CN" b="1" dirty="0"/>
              <a:t>Vendor lock-in</a:t>
            </a:r>
            <a:r>
              <a:rPr lang="en-US" altLang="zh-CN" dirty="0"/>
              <a:t> — model, framework, and platform choices all bind you.</a:t>
            </a:r>
          </a:p>
        </p:txBody>
      </p:sp>
    </p:spTree>
    <p:extLst>
      <p:ext uri="{BB962C8B-B14F-4D97-AF65-F5344CB8AC3E}">
        <p14:creationId xmlns:p14="http://schemas.microsoft.com/office/powerpoint/2010/main" val="2856148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47BF-360F-97FB-0FF1-E1A045C7E8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AEA5DD-08B6-D721-1956-9DDD1D5C370D}"/>
              </a:ext>
            </a:extLst>
          </p:cNvPr>
          <p:cNvSpPr>
            <a:spLocks noGrp="1"/>
          </p:cNvSpPr>
          <p:nvPr>
            <p:ph type="title"/>
          </p:nvPr>
        </p:nvSpPr>
        <p:spPr>
          <a:xfrm>
            <a:off x="838200" y="125639"/>
            <a:ext cx="10515600" cy="1325563"/>
          </a:xfrm>
        </p:spPr>
        <p:txBody>
          <a:bodyPr/>
          <a:lstStyle/>
          <a:p>
            <a:r>
              <a:rPr lang="en-US" altLang="zh-CN" dirty="0"/>
              <a:t>[When] Agent Lifecycle</a:t>
            </a:r>
          </a:p>
        </p:txBody>
      </p:sp>
      <p:sp>
        <p:nvSpPr>
          <p:cNvPr id="6" name="文本框 5">
            <a:extLst>
              <a:ext uri="{FF2B5EF4-FFF2-40B4-BE49-F238E27FC236}">
                <a16:creationId xmlns:a16="http://schemas.microsoft.com/office/drawing/2014/main" id="{B9BD6445-9F0A-EBC0-E629-6DACF84BAAD6}"/>
              </a:ext>
            </a:extLst>
          </p:cNvPr>
          <p:cNvSpPr txBox="1"/>
          <p:nvPr/>
        </p:nvSpPr>
        <p:spPr>
          <a:xfrm>
            <a:off x="955503" y="1381794"/>
            <a:ext cx="10769601" cy="3416320"/>
          </a:xfrm>
          <a:prstGeom prst="rect">
            <a:avLst/>
          </a:prstGeom>
          <a:noFill/>
        </p:spPr>
        <p:txBody>
          <a:bodyPr wrap="square">
            <a:spAutoFit/>
          </a:bodyPr>
          <a:lstStyle/>
          <a:p>
            <a:pPr marL="285750" indent="-285750" fontAlgn="ctr">
              <a:lnSpc>
                <a:spcPct val="150000"/>
              </a:lnSpc>
              <a:buFont typeface="Arial" panose="020B0604020202020204" pitchFamily="34" charset="0"/>
              <a:buChar char="•"/>
            </a:pPr>
            <a:r>
              <a:rPr lang="en-US" altLang="zh-CN" dirty="0"/>
              <a:t>Build</a:t>
            </a:r>
          </a:p>
          <a:p>
            <a:pPr marL="285750" indent="-285750" fontAlgn="ctr">
              <a:lnSpc>
                <a:spcPct val="150000"/>
              </a:lnSpc>
              <a:buFont typeface="Arial" panose="020B0604020202020204" pitchFamily="34" charset="0"/>
              <a:buChar char="•"/>
            </a:pPr>
            <a:r>
              <a:rPr lang="en-US" altLang="zh-CN" dirty="0"/>
              <a:t>Evaluate</a:t>
            </a:r>
          </a:p>
          <a:p>
            <a:pPr marL="285750" indent="-285750" fontAlgn="ctr">
              <a:lnSpc>
                <a:spcPct val="150000"/>
              </a:lnSpc>
              <a:buFont typeface="Arial" panose="020B0604020202020204" pitchFamily="34" charset="0"/>
              <a:buChar char="•"/>
            </a:pPr>
            <a:r>
              <a:rPr lang="en-US" altLang="zh-CN" dirty="0"/>
              <a:t>Provision</a:t>
            </a:r>
          </a:p>
          <a:p>
            <a:pPr marL="285750" indent="-285750" fontAlgn="ctr">
              <a:lnSpc>
                <a:spcPct val="150000"/>
              </a:lnSpc>
              <a:buFont typeface="Arial" panose="020B0604020202020204" pitchFamily="34" charset="0"/>
              <a:buChar char="•"/>
            </a:pPr>
            <a:r>
              <a:rPr lang="en-US" altLang="zh-CN" dirty="0"/>
              <a:t>Deploy</a:t>
            </a:r>
          </a:p>
          <a:p>
            <a:pPr marL="285750" indent="-285750" fontAlgn="ctr">
              <a:lnSpc>
                <a:spcPct val="150000"/>
              </a:lnSpc>
              <a:buFont typeface="Arial" panose="020B0604020202020204" pitchFamily="34" charset="0"/>
              <a:buChar char="•"/>
            </a:pPr>
            <a:r>
              <a:rPr lang="en-US" altLang="zh-CN" dirty="0"/>
              <a:t>Release</a:t>
            </a:r>
          </a:p>
          <a:p>
            <a:pPr marL="285750" indent="-285750" fontAlgn="ctr">
              <a:lnSpc>
                <a:spcPct val="150000"/>
              </a:lnSpc>
              <a:buFont typeface="Arial" panose="020B0604020202020204" pitchFamily="34" charset="0"/>
              <a:buChar char="•"/>
            </a:pPr>
            <a:r>
              <a:rPr lang="en-US" altLang="zh-CN" dirty="0"/>
              <a:t>Operate</a:t>
            </a:r>
          </a:p>
          <a:p>
            <a:pPr marL="285750" indent="-285750" fontAlgn="ctr">
              <a:lnSpc>
                <a:spcPct val="150000"/>
              </a:lnSpc>
              <a:buFont typeface="Arial" panose="020B0604020202020204" pitchFamily="34" charset="0"/>
              <a:buChar char="•"/>
            </a:pPr>
            <a:r>
              <a:rPr lang="en-US" altLang="zh-CN" dirty="0"/>
              <a:t>Govern</a:t>
            </a:r>
          </a:p>
          <a:p>
            <a:pPr marL="285750" indent="-285750" fontAlgn="ctr">
              <a:lnSpc>
                <a:spcPct val="150000"/>
              </a:lnSpc>
              <a:buFont typeface="Arial" panose="020B0604020202020204" pitchFamily="34" charset="0"/>
              <a:buChar char="•"/>
            </a:pPr>
            <a:r>
              <a:rPr lang="en-US" altLang="zh-CN" dirty="0"/>
              <a:t>Retire</a:t>
            </a:r>
          </a:p>
        </p:txBody>
      </p:sp>
    </p:spTree>
    <p:extLst>
      <p:ext uri="{BB962C8B-B14F-4D97-AF65-F5344CB8AC3E}">
        <p14:creationId xmlns:p14="http://schemas.microsoft.com/office/powerpoint/2010/main" val="1509610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C8D13-C793-0FB3-5F36-2F915C7CE9E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C25967D-A7D6-5120-7A3F-E5964CE72F2F}"/>
              </a:ext>
            </a:extLst>
          </p:cNvPr>
          <p:cNvSpPr>
            <a:spLocks noGrp="1"/>
          </p:cNvSpPr>
          <p:nvPr>
            <p:ph type="title"/>
          </p:nvPr>
        </p:nvSpPr>
        <p:spPr>
          <a:xfrm>
            <a:off x="838200" y="125639"/>
            <a:ext cx="10515600" cy="1325563"/>
          </a:xfrm>
        </p:spPr>
        <p:txBody>
          <a:bodyPr/>
          <a:lstStyle/>
          <a:p>
            <a:r>
              <a:rPr lang="en-US" altLang="zh-CN" dirty="0"/>
              <a:t>Agent Ecosystem - Who Are the Players</a:t>
            </a:r>
          </a:p>
        </p:txBody>
      </p:sp>
      <p:sp>
        <p:nvSpPr>
          <p:cNvPr id="6" name="文本框 5">
            <a:extLst>
              <a:ext uri="{FF2B5EF4-FFF2-40B4-BE49-F238E27FC236}">
                <a16:creationId xmlns:a16="http://schemas.microsoft.com/office/drawing/2014/main" id="{4C8EC2A9-E533-D0E1-2545-3A9D800F126E}"/>
              </a:ext>
            </a:extLst>
          </p:cNvPr>
          <p:cNvSpPr txBox="1"/>
          <p:nvPr/>
        </p:nvSpPr>
        <p:spPr>
          <a:xfrm>
            <a:off x="955503" y="1381794"/>
            <a:ext cx="10769601" cy="254313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dirty="0"/>
              <a:t>Foundation layer:</a:t>
            </a:r>
            <a:r>
              <a:rPr lang="en-US" altLang="zh-CN" dirty="0"/>
              <a:t> Chips, compute, base models (OpenAI, Anthropic, Google, Meta, etc.)</a:t>
            </a:r>
          </a:p>
          <a:p>
            <a:pPr marL="285750" indent="-285750">
              <a:lnSpc>
                <a:spcPct val="150000"/>
              </a:lnSpc>
              <a:buFont typeface="Arial" panose="020B0604020202020204" pitchFamily="34" charset="0"/>
              <a:buChar char="•"/>
            </a:pPr>
            <a:r>
              <a:rPr lang="en-US" altLang="zh-CN" b="1" dirty="0"/>
              <a:t>Platform layer:</a:t>
            </a:r>
            <a:r>
              <a:rPr lang="en-US" altLang="zh-CN" dirty="0"/>
              <a:t> Frameworks (LangChain, </a:t>
            </a:r>
            <a:r>
              <a:rPr lang="en-US" altLang="zh-CN" dirty="0" err="1"/>
              <a:t>LangGraph</a:t>
            </a:r>
            <a:r>
              <a:rPr lang="en-US" altLang="zh-CN" dirty="0"/>
              <a:t>, </a:t>
            </a:r>
            <a:r>
              <a:rPr lang="en-US" altLang="zh-CN" dirty="0" err="1"/>
              <a:t>CrewAI</a:t>
            </a:r>
            <a:r>
              <a:rPr lang="en-US" altLang="zh-CN" dirty="0"/>
              <a:t>, </a:t>
            </a:r>
            <a:r>
              <a:rPr lang="en-US" altLang="zh-CN" dirty="0" err="1"/>
              <a:t>AutoGen</a:t>
            </a:r>
            <a:r>
              <a:rPr lang="en-US" altLang="zh-CN" dirty="0"/>
              <a:t>), platforms (</a:t>
            </a:r>
            <a:r>
              <a:rPr lang="en-US" altLang="zh-CN" dirty="0" err="1"/>
              <a:t>Dify</a:t>
            </a:r>
            <a:r>
              <a:rPr lang="en-US" altLang="zh-CN" dirty="0"/>
              <a:t>, </a:t>
            </a:r>
            <a:r>
              <a:rPr lang="en-US" altLang="zh-CN" dirty="0" err="1"/>
              <a:t>Coze</a:t>
            </a:r>
            <a:r>
              <a:rPr lang="en-US" altLang="zh-CN" dirty="0"/>
              <a:t>), cloud vendor agent platforms (Vertex AI, Azure AI Foundry, AWS Bedrock)</a:t>
            </a:r>
          </a:p>
          <a:p>
            <a:pPr marL="285750" indent="-285750">
              <a:lnSpc>
                <a:spcPct val="150000"/>
              </a:lnSpc>
              <a:buFont typeface="Arial" panose="020B0604020202020204" pitchFamily="34" charset="0"/>
              <a:buChar char="•"/>
            </a:pPr>
            <a:r>
              <a:rPr lang="en-US" altLang="zh-CN" b="1" dirty="0"/>
              <a:t>Application layer:</a:t>
            </a:r>
            <a:r>
              <a:rPr lang="en-US" altLang="zh-CN" dirty="0"/>
              <a:t> Domain-specific agent products (finance, healthcare, education, customer service, coding)</a:t>
            </a:r>
          </a:p>
          <a:p>
            <a:pPr marL="285750" indent="-285750">
              <a:lnSpc>
                <a:spcPct val="150000"/>
              </a:lnSpc>
              <a:buFont typeface="Arial" panose="020B0604020202020204" pitchFamily="34" charset="0"/>
              <a:buChar char="•"/>
            </a:pPr>
            <a:r>
              <a:rPr lang="en-US" altLang="zh-CN" b="1" dirty="0"/>
              <a:t>End-user layer:</a:t>
            </a:r>
            <a:r>
              <a:rPr lang="en-US" altLang="zh-CN" dirty="0"/>
              <a:t> Individuals [</a:t>
            </a:r>
            <a:r>
              <a:rPr lang="en-US" altLang="zh-CN" dirty="0">
                <a:solidFill>
                  <a:srgbClr val="FF0000"/>
                </a:solidFill>
              </a:rPr>
              <a:t>To C</a:t>
            </a:r>
            <a:r>
              <a:rPr lang="en-US" altLang="zh-CN" dirty="0"/>
              <a:t>], enterprise teams [</a:t>
            </a:r>
            <a:r>
              <a:rPr lang="en-US" altLang="zh-CN" dirty="0">
                <a:solidFill>
                  <a:srgbClr val="FF0000"/>
                </a:solidFill>
              </a:rPr>
              <a:t>To B</a:t>
            </a:r>
            <a:r>
              <a:rPr lang="en-US" altLang="zh-CN" dirty="0"/>
              <a:t>], domain professionals</a:t>
            </a:r>
          </a:p>
        </p:txBody>
      </p:sp>
    </p:spTree>
    <p:extLst>
      <p:ext uri="{BB962C8B-B14F-4D97-AF65-F5344CB8AC3E}">
        <p14:creationId xmlns:p14="http://schemas.microsoft.com/office/powerpoint/2010/main" val="2849140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861A-E0E9-CCFC-B746-28A48C9C89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9171EC-9F0A-AD9C-EEC5-922E73F6B108}"/>
              </a:ext>
            </a:extLst>
          </p:cNvPr>
          <p:cNvSpPr>
            <a:spLocks noGrp="1"/>
          </p:cNvSpPr>
          <p:nvPr>
            <p:ph type="title"/>
          </p:nvPr>
        </p:nvSpPr>
        <p:spPr>
          <a:xfrm>
            <a:off x="838200" y="125639"/>
            <a:ext cx="10515600" cy="1325563"/>
          </a:xfrm>
        </p:spPr>
        <p:txBody>
          <a:bodyPr/>
          <a:lstStyle/>
          <a:p>
            <a:r>
              <a:rPr lang="en-US" altLang="zh-CN" dirty="0"/>
              <a:t>Challenges Within Agent</a:t>
            </a:r>
          </a:p>
        </p:txBody>
      </p:sp>
      <p:sp>
        <p:nvSpPr>
          <p:cNvPr id="6" name="文本框 5">
            <a:extLst>
              <a:ext uri="{FF2B5EF4-FFF2-40B4-BE49-F238E27FC236}">
                <a16:creationId xmlns:a16="http://schemas.microsoft.com/office/drawing/2014/main" id="{A6165555-D30A-6C84-5347-D82CA0934882}"/>
              </a:ext>
            </a:extLst>
          </p:cNvPr>
          <p:cNvSpPr txBox="1"/>
          <p:nvPr/>
        </p:nvSpPr>
        <p:spPr>
          <a:xfrm>
            <a:off x="955503" y="1381794"/>
            <a:ext cx="10769601" cy="50361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dirty="0"/>
              <a:t>Practical Challenges</a:t>
            </a:r>
          </a:p>
          <a:p>
            <a:pPr marL="742950" lvl="1" indent="-285750">
              <a:lnSpc>
                <a:spcPct val="150000"/>
              </a:lnSpc>
              <a:buFont typeface="Arial" panose="020B0604020202020204" pitchFamily="34" charset="0"/>
              <a:buChar char="•"/>
            </a:pPr>
            <a:r>
              <a:rPr lang="en-US" altLang="zh-CN" dirty="0"/>
              <a:t>Technical Security Risks</a:t>
            </a:r>
          </a:p>
          <a:p>
            <a:pPr marL="742950" lvl="1" indent="-285750">
              <a:lnSpc>
                <a:spcPct val="150000"/>
              </a:lnSpc>
              <a:buFont typeface="Arial" panose="020B0604020202020204" pitchFamily="34" charset="0"/>
              <a:buChar char="•"/>
            </a:pPr>
            <a:r>
              <a:rPr lang="en-US" altLang="zh-CN" dirty="0"/>
              <a:t>Ethics, Bias, and Social Risks</a:t>
            </a:r>
          </a:p>
          <a:p>
            <a:pPr marL="742950" lvl="1" indent="-285750">
              <a:lnSpc>
                <a:spcPct val="150000"/>
              </a:lnSpc>
              <a:buFont typeface="Arial" panose="020B0604020202020204" pitchFamily="34" charset="0"/>
              <a:buChar char="•"/>
            </a:pPr>
            <a:r>
              <a:rPr lang="en-US" altLang="zh-CN" dirty="0"/>
              <a:t>Data and Privacy Security</a:t>
            </a:r>
          </a:p>
          <a:p>
            <a:pPr marL="742950" lvl="1" indent="-285750">
              <a:lnSpc>
                <a:spcPct val="150000"/>
              </a:lnSpc>
              <a:buFont typeface="Arial" panose="020B0604020202020204" pitchFamily="34" charset="0"/>
              <a:buChar char="•"/>
            </a:pPr>
            <a:r>
              <a:rPr lang="en-US" altLang="zh-CN" dirty="0"/>
              <a:t>Law and Regulation</a:t>
            </a: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b="1" dirty="0"/>
              <a:t>Potential Challenges</a:t>
            </a:r>
          </a:p>
          <a:p>
            <a:pPr marL="742950" lvl="1" indent="-285750">
              <a:lnSpc>
                <a:spcPct val="150000"/>
              </a:lnSpc>
              <a:buFont typeface="Arial" panose="020B0604020202020204" pitchFamily="34" charset="0"/>
              <a:buChar char="•"/>
            </a:pPr>
            <a:r>
              <a:rPr lang="en-US" altLang="zh-CN" dirty="0"/>
              <a:t>Action boundary — where should agent autonomy stop?</a:t>
            </a:r>
          </a:p>
          <a:p>
            <a:pPr marL="742950" lvl="1" indent="-285750">
              <a:lnSpc>
                <a:spcPct val="150000"/>
              </a:lnSpc>
              <a:buFont typeface="Arial" panose="020B0604020202020204" pitchFamily="34" charset="0"/>
              <a:buChar char="•"/>
            </a:pPr>
            <a:r>
              <a:rPr lang="en-US" altLang="zh-CN" dirty="0"/>
              <a:t>Decision reliability — can we trust the output to be correct often enough?</a:t>
            </a:r>
          </a:p>
          <a:p>
            <a:pPr marL="742950" lvl="1" indent="-285750">
              <a:lnSpc>
                <a:spcPct val="150000"/>
              </a:lnSpc>
              <a:buFont typeface="Arial" panose="020B0604020202020204" pitchFamily="34" charset="0"/>
              <a:buChar char="•"/>
            </a:pPr>
            <a:r>
              <a:rPr lang="en-US" altLang="zh-CN" dirty="0"/>
              <a:t>Potential misuse — autonomous tools amplify harm.</a:t>
            </a:r>
          </a:p>
          <a:p>
            <a:pPr marL="742950" lvl="1" indent="-285750">
              <a:lnSpc>
                <a:spcPct val="150000"/>
              </a:lnSpc>
              <a:buFont typeface="Arial" panose="020B0604020202020204" pitchFamily="34" charset="0"/>
              <a:buChar char="•"/>
            </a:pPr>
            <a:r>
              <a:rPr lang="en-US" altLang="zh-CN" dirty="0"/>
              <a:t>Responsibility — when something breaks, who is accountable?</a:t>
            </a:r>
          </a:p>
          <a:p>
            <a:pPr marL="285750" indent="-285750">
              <a:lnSpc>
                <a:spcPct val="150000"/>
              </a:lnSpc>
              <a:buFont typeface="Arial" panose="020B0604020202020204" pitchFamily="34" charset="0"/>
              <a:buChar char="•"/>
            </a:pPr>
            <a:endParaRPr lang="en-US" altLang="zh-CN" dirty="0"/>
          </a:p>
        </p:txBody>
      </p:sp>
    </p:spTree>
    <p:extLst>
      <p:ext uri="{BB962C8B-B14F-4D97-AF65-F5344CB8AC3E}">
        <p14:creationId xmlns:p14="http://schemas.microsoft.com/office/powerpoint/2010/main" val="667362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BC5F0-61D9-71F0-DE44-ED73EAF679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7FC2FA-289A-9DDF-1ECC-2B69D7838731}"/>
              </a:ext>
            </a:extLst>
          </p:cNvPr>
          <p:cNvSpPr>
            <a:spLocks noGrp="1"/>
          </p:cNvSpPr>
          <p:nvPr>
            <p:ph type="ctrTitle"/>
          </p:nvPr>
        </p:nvSpPr>
        <p:spPr>
          <a:xfrm>
            <a:off x="1310072" y="1122363"/>
            <a:ext cx="9571856" cy="2387600"/>
          </a:xfrm>
        </p:spPr>
        <p:txBody>
          <a:bodyPr/>
          <a:lstStyle/>
          <a:p>
            <a:r>
              <a:rPr lang="en-US" altLang="zh-CN" dirty="0"/>
              <a:t>AI Agent</a:t>
            </a:r>
            <a:endParaRPr lang="zh-CN" altLang="en-US" dirty="0"/>
          </a:p>
        </p:txBody>
      </p:sp>
      <p:sp>
        <p:nvSpPr>
          <p:cNvPr id="3" name="副标题 2">
            <a:extLst>
              <a:ext uri="{FF2B5EF4-FFF2-40B4-BE49-F238E27FC236}">
                <a16:creationId xmlns:a16="http://schemas.microsoft.com/office/drawing/2014/main" id="{AD70AEA3-1753-D1CB-ACA9-F38C74D9166E}"/>
              </a:ext>
            </a:extLst>
          </p:cNvPr>
          <p:cNvSpPr>
            <a:spLocks noGrp="1"/>
          </p:cNvSpPr>
          <p:nvPr>
            <p:ph type="subTitle" idx="1"/>
          </p:nvPr>
        </p:nvSpPr>
        <p:spPr/>
        <p:txBody>
          <a:bodyPr/>
          <a:lstStyle/>
          <a:p>
            <a:r>
              <a:rPr lang="en-US" altLang="zh-CN" dirty="0"/>
              <a:t>How to design a good/useful agent or vertical agent</a:t>
            </a:r>
          </a:p>
        </p:txBody>
      </p:sp>
    </p:spTree>
    <p:extLst>
      <p:ext uri="{BB962C8B-B14F-4D97-AF65-F5344CB8AC3E}">
        <p14:creationId xmlns:p14="http://schemas.microsoft.com/office/powerpoint/2010/main" val="359134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CA5A0-D5AA-CA8B-5747-2541AAE6C64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81FE4-8909-5F77-CAD3-36B83197E8AB}"/>
              </a:ext>
            </a:extLst>
          </p:cNvPr>
          <p:cNvSpPr>
            <a:spLocks noGrp="1"/>
          </p:cNvSpPr>
          <p:nvPr>
            <p:ph type="title"/>
          </p:nvPr>
        </p:nvSpPr>
        <p:spPr>
          <a:xfrm>
            <a:off x="838200" y="125639"/>
            <a:ext cx="10515600" cy="1325563"/>
          </a:xfrm>
        </p:spPr>
        <p:txBody>
          <a:bodyPr/>
          <a:lstStyle/>
          <a:p>
            <a:r>
              <a:rPr lang="en-US" altLang="zh-CN" dirty="0"/>
              <a:t>Key Notes to Always Remember</a:t>
            </a:r>
          </a:p>
        </p:txBody>
      </p:sp>
      <p:sp>
        <p:nvSpPr>
          <p:cNvPr id="6" name="文本框 5">
            <a:extLst>
              <a:ext uri="{FF2B5EF4-FFF2-40B4-BE49-F238E27FC236}">
                <a16:creationId xmlns:a16="http://schemas.microsoft.com/office/drawing/2014/main" id="{EC6EE387-F5BB-7736-CE04-15E2568F6A3E}"/>
              </a:ext>
            </a:extLst>
          </p:cNvPr>
          <p:cNvSpPr txBox="1"/>
          <p:nvPr/>
        </p:nvSpPr>
        <p:spPr>
          <a:xfrm>
            <a:off x="955503" y="1381794"/>
            <a:ext cx="10769601" cy="254313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dirty="0"/>
              <a:t>The LLM is the only actor that decides anything. </a:t>
            </a:r>
          </a:p>
          <a:p>
            <a:pPr marL="742950" lvl="1" indent="-285750">
              <a:lnSpc>
                <a:spcPct val="150000"/>
              </a:lnSpc>
              <a:buFont typeface="Arial" panose="020B0604020202020204" pitchFamily="34" charset="0"/>
              <a:buChar char="•"/>
            </a:pPr>
            <a:r>
              <a:rPr lang="en-US" altLang="zh-CN" dirty="0"/>
              <a:t>Every plan, branch, and tool choice ultimately comes from the model.</a:t>
            </a: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dirty="0"/>
              <a:t>Agent engineering/Harness = managing the context window the LLM sees and formulate the actions LLM perform. </a:t>
            </a:r>
          </a:p>
          <a:p>
            <a:pPr marL="742950" lvl="1" indent="-285750">
              <a:lnSpc>
                <a:spcPct val="150000"/>
              </a:lnSpc>
              <a:buFont typeface="Arial" panose="020B0604020202020204" pitchFamily="34" charset="0"/>
              <a:buChar char="•"/>
            </a:pPr>
            <a:r>
              <a:rPr lang="en-US" altLang="zh-CN" dirty="0"/>
              <a:t>The goal is to make non-deterministic LLM output more deterministic and more useful.</a:t>
            </a:r>
          </a:p>
        </p:txBody>
      </p:sp>
    </p:spTree>
    <p:extLst>
      <p:ext uri="{BB962C8B-B14F-4D97-AF65-F5344CB8AC3E}">
        <p14:creationId xmlns:p14="http://schemas.microsoft.com/office/powerpoint/2010/main" val="791819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E506E-6C15-47E4-254F-8B33276CBE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0D3C81-ABBF-A6C6-6424-5CAD482080F8}"/>
              </a:ext>
            </a:extLst>
          </p:cNvPr>
          <p:cNvSpPr>
            <a:spLocks noGrp="1"/>
          </p:cNvSpPr>
          <p:nvPr>
            <p:ph type="title"/>
          </p:nvPr>
        </p:nvSpPr>
        <p:spPr>
          <a:xfrm>
            <a:off x="838200" y="125639"/>
            <a:ext cx="10515600" cy="1325563"/>
          </a:xfrm>
        </p:spPr>
        <p:txBody>
          <a:bodyPr/>
          <a:lstStyle/>
          <a:p>
            <a:r>
              <a:rPr lang="en-US" altLang="zh-CN" dirty="0"/>
              <a:t>What Decides If a Vertical Agent Is Useful</a:t>
            </a:r>
          </a:p>
        </p:txBody>
      </p:sp>
      <p:sp>
        <p:nvSpPr>
          <p:cNvPr id="6" name="文本框 5">
            <a:extLst>
              <a:ext uri="{FF2B5EF4-FFF2-40B4-BE49-F238E27FC236}">
                <a16:creationId xmlns:a16="http://schemas.microsoft.com/office/drawing/2014/main" id="{B98DE384-824F-8AC2-6D81-DEBE65831073}"/>
              </a:ext>
            </a:extLst>
          </p:cNvPr>
          <p:cNvSpPr txBox="1"/>
          <p:nvPr/>
        </p:nvSpPr>
        <p:spPr>
          <a:xfrm>
            <a:off x="955503" y="1381794"/>
            <a:ext cx="10769601" cy="420512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dirty="0"/>
              <a:t>Does it </a:t>
            </a:r>
            <a:r>
              <a:rPr lang="en-US" altLang="zh-CN" b="1" dirty="0"/>
              <a:t>lower the cost of obtaining context</a:t>
            </a:r>
            <a:r>
              <a:rPr lang="en-US" altLang="zh-CN" dirty="0"/>
              <a:t>? — Can the model reach the right files, docs, tickets, dashboards without burning turns and tokens to find them?</a:t>
            </a:r>
          </a:p>
          <a:p>
            <a:pPr marL="285750" indent="-285750">
              <a:lnSpc>
                <a:spcPct val="150000"/>
              </a:lnSpc>
              <a:buFont typeface="Arial" panose="020B0604020202020204" pitchFamily="34" charset="0"/>
              <a:buChar char="•"/>
            </a:pPr>
            <a:r>
              <a:rPr lang="en-US" altLang="zh-CN" dirty="0"/>
              <a:t>Does it </a:t>
            </a:r>
            <a:r>
              <a:rPr lang="en-US" altLang="zh-CN" b="1" dirty="0"/>
              <a:t>improve state stability</a:t>
            </a:r>
            <a:r>
              <a:rPr lang="en-US" altLang="zh-CN" dirty="0"/>
              <a:t>? — Across a long task, does the agent's understanding of "where we are" stay coherent, or drift?</a:t>
            </a:r>
          </a:p>
          <a:p>
            <a:pPr marL="285750" indent="-285750">
              <a:lnSpc>
                <a:spcPct val="150000"/>
              </a:lnSpc>
              <a:buFont typeface="Arial" panose="020B0604020202020204" pitchFamily="34" charset="0"/>
              <a:buChar char="•"/>
            </a:pPr>
            <a:r>
              <a:rPr lang="en-US" altLang="zh-CN" dirty="0"/>
              <a:t>Does it </a:t>
            </a:r>
            <a:r>
              <a:rPr lang="en-US" altLang="zh-CN" b="1" dirty="0"/>
              <a:t>truly understand the domain environment</a:t>
            </a:r>
            <a:r>
              <a:rPr lang="en-US" altLang="zh-CN" dirty="0"/>
              <a:t>? — Conventions, approval flows, permission boundaries, the way </a:t>
            </a:r>
            <a:r>
              <a:rPr lang="en-US" altLang="zh-CN" i="1" dirty="0"/>
              <a:t>this</a:t>
            </a:r>
            <a:r>
              <a:rPr lang="en-US" altLang="zh-CN" dirty="0"/>
              <a:t> team actually works.</a:t>
            </a: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dirty="0"/>
              <a:t>A "vertical agent" that just wraps GPT with a domain prompt and a couple of APIs hits none of these. A real one invests in retrieval, scratchpads, and domain rules until the model can operate in that environment as confidently as a seasoned engineer would.</a:t>
            </a:r>
          </a:p>
        </p:txBody>
      </p:sp>
    </p:spTree>
    <p:extLst>
      <p:ext uri="{BB962C8B-B14F-4D97-AF65-F5344CB8AC3E}">
        <p14:creationId xmlns:p14="http://schemas.microsoft.com/office/powerpoint/2010/main" val="3943382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DA52-E4C5-E428-4E48-6F5E098FA0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AB1667-0AE9-96AE-FCF4-46579AF6AAB7}"/>
              </a:ext>
            </a:extLst>
          </p:cNvPr>
          <p:cNvSpPr>
            <a:spLocks noGrp="1"/>
          </p:cNvSpPr>
          <p:nvPr>
            <p:ph type="title"/>
          </p:nvPr>
        </p:nvSpPr>
        <p:spPr>
          <a:xfrm>
            <a:off x="838200" y="125639"/>
            <a:ext cx="10515600" cy="1325563"/>
          </a:xfrm>
        </p:spPr>
        <p:txBody>
          <a:bodyPr/>
          <a:lstStyle/>
          <a:p>
            <a:r>
              <a:rPr lang="en-US" altLang="zh-CN" dirty="0"/>
              <a:t>Why Claude Code Is Strong</a:t>
            </a:r>
            <a:r>
              <a:rPr lang="en-US" altLang="zh-CN" sz="2800" dirty="0"/>
              <a:t> (</a:t>
            </a:r>
            <a:r>
              <a:rPr lang="en-US" altLang="zh-CN" sz="2400" dirty="0"/>
              <a:t>What are needed for Agent)</a:t>
            </a:r>
            <a:endParaRPr lang="en-US" altLang="zh-CN" dirty="0"/>
          </a:p>
        </p:txBody>
      </p:sp>
      <p:sp>
        <p:nvSpPr>
          <p:cNvPr id="6" name="文本框 5">
            <a:extLst>
              <a:ext uri="{FF2B5EF4-FFF2-40B4-BE49-F238E27FC236}">
                <a16:creationId xmlns:a16="http://schemas.microsoft.com/office/drawing/2014/main" id="{BE764E19-EC7F-A01E-90EC-4D0ACFC44950}"/>
              </a:ext>
            </a:extLst>
          </p:cNvPr>
          <p:cNvSpPr txBox="1"/>
          <p:nvPr/>
        </p:nvSpPr>
        <p:spPr>
          <a:xfrm>
            <a:off x="955503" y="1381794"/>
            <a:ext cx="10769601" cy="337412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dirty="0"/>
              <a:t>It is strong because </a:t>
            </a:r>
            <a:r>
              <a:rPr lang="en-US" altLang="zh-CN" b="1" dirty="0"/>
              <a:t>it knows how to give the model a working environment that fits the task</a:t>
            </a:r>
            <a:r>
              <a:rPr lang="en-US" altLang="zh-CN" dirty="0"/>
              <a:t>. Concretely, that environment work includes:</a:t>
            </a: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dirty="0"/>
              <a:t>How to </a:t>
            </a:r>
            <a:r>
              <a:rPr lang="en-US" altLang="zh-CN" b="1" dirty="0"/>
              <a:t>manage context</a:t>
            </a:r>
            <a:r>
              <a:rPr lang="en-US" altLang="zh-CN" dirty="0"/>
              <a:t> (compaction, system prompts, memory).</a:t>
            </a:r>
          </a:p>
          <a:p>
            <a:pPr marL="285750" indent="-285750">
              <a:lnSpc>
                <a:spcPct val="150000"/>
              </a:lnSpc>
              <a:buFont typeface="Arial" panose="020B0604020202020204" pitchFamily="34" charset="0"/>
              <a:buChar char="•"/>
            </a:pPr>
            <a:r>
              <a:rPr lang="en-US" altLang="zh-CN" dirty="0"/>
              <a:t>How to </a:t>
            </a:r>
            <a:r>
              <a:rPr lang="en-US" altLang="zh-CN" b="1" dirty="0"/>
              <a:t>isolate task pollution</a:t>
            </a:r>
            <a:r>
              <a:rPr lang="en-US" altLang="zh-CN" dirty="0"/>
              <a:t> (subagents, </a:t>
            </a:r>
            <a:r>
              <a:rPr lang="en-US" altLang="zh-CN" dirty="0" err="1"/>
              <a:t>worktrees</a:t>
            </a:r>
            <a:r>
              <a:rPr lang="en-US" altLang="zh-CN" dirty="0"/>
              <a:t>).</a:t>
            </a:r>
          </a:p>
          <a:p>
            <a:pPr marL="285750" indent="-285750">
              <a:lnSpc>
                <a:spcPct val="150000"/>
              </a:lnSpc>
              <a:buFont typeface="Arial" panose="020B0604020202020204" pitchFamily="34" charset="0"/>
              <a:buChar char="•"/>
            </a:pPr>
            <a:r>
              <a:rPr lang="en-US" altLang="zh-CN" dirty="0"/>
              <a:t>How to </a:t>
            </a:r>
            <a:r>
              <a:rPr lang="en-US" altLang="zh-CN" b="1" dirty="0"/>
              <a:t>maintain state</a:t>
            </a:r>
            <a:r>
              <a:rPr lang="en-US" altLang="zh-CN" dirty="0"/>
              <a:t> (scratchpad files, </a:t>
            </a:r>
            <a:r>
              <a:rPr lang="en-US" altLang="zh-CN" dirty="0" err="1"/>
              <a:t>todos</a:t>
            </a:r>
            <a:r>
              <a:rPr lang="en-US" altLang="zh-CN" dirty="0"/>
              <a:t>, plans).</a:t>
            </a:r>
          </a:p>
          <a:p>
            <a:pPr marL="285750" indent="-285750">
              <a:lnSpc>
                <a:spcPct val="150000"/>
              </a:lnSpc>
              <a:buFont typeface="Arial" panose="020B0604020202020204" pitchFamily="34" charset="0"/>
              <a:buChar char="•"/>
            </a:pPr>
            <a:r>
              <a:rPr lang="en-US" altLang="zh-CN" dirty="0"/>
              <a:t>How to </a:t>
            </a:r>
            <a:r>
              <a:rPr lang="en-US" altLang="zh-CN" b="1" dirty="0"/>
              <a:t>compress information</a:t>
            </a:r>
            <a:r>
              <a:rPr lang="en-US" altLang="zh-CN" dirty="0"/>
              <a:t> (skills, summaries).</a:t>
            </a:r>
          </a:p>
          <a:p>
            <a:pPr marL="285750" indent="-285750">
              <a:lnSpc>
                <a:spcPct val="150000"/>
              </a:lnSpc>
              <a:buFont typeface="Arial" panose="020B0604020202020204" pitchFamily="34" charset="0"/>
              <a:buChar char="•"/>
            </a:pPr>
            <a:r>
              <a:rPr lang="en-US" altLang="zh-CN" dirty="0"/>
              <a:t>How to </a:t>
            </a:r>
            <a:r>
              <a:rPr lang="en-US" altLang="zh-CN" b="1" dirty="0"/>
              <a:t>keep the model focused on the goal</a:t>
            </a:r>
            <a:r>
              <a:rPr lang="en-US" altLang="zh-CN" dirty="0"/>
              <a:t> (planning, structured outputs, periodic re-anchoring).</a:t>
            </a:r>
          </a:p>
        </p:txBody>
      </p:sp>
    </p:spTree>
    <p:extLst>
      <p:ext uri="{BB962C8B-B14F-4D97-AF65-F5344CB8AC3E}">
        <p14:creationId xmlns:p14="http://schemas.microsoft.com/office/powerpoint/2010/main" val="2937530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ABD15-7E8E-230A-CC2F-A90ACB1F4CC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77652D-A71C-AD7A-7E7F-1089BD75873A}"/>
              </a:ext>
            </a:extLst>
          </p:cNvPr>
          <p:cNvSpPr>
            <a:spLocks noGrp="1"/>
          </p:cNvSpPr>
          <p:nvPr>
            <p:ph type="title"/>
          </p:nvPr>
        </p:nvSpPr>
        <p:spPr>
          <a:xfrm>
            <a:off x="838200" y="125639"/>
            <a:ext cx="10515600" cy="1325563"/>
          </a:xfrm>
        </p:spPr>
        <p:txBody>
          <a:bodyPr/>
          <a:lstStyle/>
          <a:p>
            <a:r>
              <a:rPr lang="en-US" altLang="zh-CN" dirty="0"/>
              <a:t>What to Think During Agent Building</a:t>
            </a:r>
          </a:p>
        </p:txBody>
      </p:sp>
      <p:sp>
        <p:nvSpPr>
          <p:cNvPr id="6" name="文本框 5">
            <a:extLst>
              <a:ext uri="{FF2B5EF4-FFF2-40B4-BE49-F238E27FC236}">
                <a16:creationId xmlns:a16="http://schemas.microsoft.com/office/drawing/2014/main" id="{872F6B8A-5317-F457-719C-85C10C8C330F}"/>
              </a:ext>
            </a:extLst>
          </p:cNvPr>
          <p:cNvSpPr txBox="1"/>
          <p:nvPr/>
        </p:nvSpPr>
        <p:spPr>
          <a:xfrm>
            <a:off x="955503" y="1381794"/>
            <a:ext cx="10769601" cy="5867119"/>
          </a:xfrm>
          <a:prstGeom prst="rect">
            <a:avLst/>
          </a:prstGeom>
          <a:noFill/>
        </p:spPr>
        <p:txBody>
          <a:bodyPr wrap="square">
            <a:spAutoFit/>
          </a:bodyPr>
          <a:lstStyle/>
          <a:p>
            <a:pPr marL="342900" indent="-342900">
              <a:lnSpc>
                <a:spcPct val="150000"/>
              </a:lnSpc>
              <a:buFont typeface="+mj-lt"/>
              <a:buAutoNum type="arabicPeriod"/>
            </a:pPr>
            <a:r>
              <a:rPr lang="en-US" altLang="zh-CN" dirty="0"/>
              <a:t>Start every feature proposal with "does the LLM need this? / What burden it adds and removed?" </a:t>
            </a:r>
          </a:p>
          <a:p>
            <a:pPr marL="342900" indent="-342900">
              <a:lnSpc>
                <a:spcPct val="150000"/>
              </a:lnSpc>
              <a:buFont typeface="+mj-lt"/>
              <a:buAutoNum type="arabicPeriod"/>
            </a:pPr>
            <a:r>
              <a:rPr lang="en-US" altLang="zh-CN" dirty="0"/>
              <a:t>Having an externalized working memory beats clever prompting for remember what to do.</a:t>
            </a:r>
          </a:p>
          <a:p>
            <a:pPr marL="342900" indent="-342900">
              <a:lnSpc>
                <a:spcPct val="150000"/>
              </a:lnSpc>
              <a:buFont typeface="+mj-lt"/>
              <a:buAutoNum type="arabicPeriod"/>
            </a:pPr>
            <a:r>
              <a:rPr lang="en-US" altLang="zh-CN" dirty="0"/>
              <a:t>Wired your agent into the team’s/user’s real workflows, conventions, and constraints.</a:t>
            </a: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b="1" dirty="0"/>
              <a:t>Embed deeper into real workflows</a:t>
            </a:r>
            <a:r>
              <a:rPr lang="en-US" altLang="zh-CN" dirty="0"/>
              <a:t> — GitLab, Jira, CI/CD, on-call, code review — not just chat windows.</a:t>
            </a:r>
          </a:p>
          <a:p>
            <a:pPr marL="285750" indent="-285750">
              <a:lnSpc>
                <a:spcPct val="150000"/>
              </a:lnSpc>
              <a:buFont typeface="Arial" panose="020B0604020202020204" pitchFamily="34" charset="0"/>
              <a:buChar char="•"/>
            </a:pPr>
            <a:r>
              <a:rPr lang="en-US" altLang="zh-CN" b="1" dirty="0"/>
              <a:t>Maintain cognitive state more stably</a:t>
            </a:r>
            <a:r>
              <a:rPr lang="en-US" altLang="zh-CN" dirty="0"/>
              <a:t> — continuous records of task stages, decisions made, decisions deferred, so a fresh session can resume without losing the thread.</a:t>
            </a:r>
          </a:p>
          <a:p>
            <a:pPr marL="285750" indent="-285750">
              <a:lnSpc>
                <a:spcPct val="150000"/>
              </a:lnSpc>
              <a:buFont typeface="Arial" panose="020B0604020202020204" pitchFamily="34" charset="0"/>
              <a:buChar char="•"/>
            </a:pPr>
            <a:r>
              <a:rPr lang="en-US" altLang="zh-CN" b="1" dirty="0"/>
              <a:t>Acquire context more cheaply</a:t>
            </a:r>
            <a:r>
              <a:rPr lang="en-US" altLang="zh-CN" dirty="0"/>
              <a:t> — auto-generated call chains, key entry points, dependency maps so the model doesn't have to rediscover the codebase every time.</a:t>
            </a:r>
          </a:p>
          <a:p>
            <a:pPr marL="285750" indent="-285750">
              <a:lnSpc>
                <a:spcPct val="150000"/>
              </a:lnSpc>
              <a:buFont typeface="Arial" panose="020B0604020202020204" pitchFamily="34" charset="0"/>
              <a:buChar char="•"/>
            </a:pPr>
            <a:r>
              <a:rPr lang="en-US" altLang="zh-CN" b="1" dirty="0"/>
              <a:t>Organize long-term memory better</a:t>
            </a:r>
            <a:r>
              <a:rPr lang="en-US" altLang="zh-CN" dirty="0"/>
              <a:t> — historical bugs, architectural decisions, "why we did X this way" precipitated into something retrievable.</a:t>
            </a:r>
          </a:p>
          <a:p>
            <a:pPr marL="285750" indent="-285750">
              <a:lnSpc>
                <a:spcPct val="150000"/>
              </a:lnSpc>
              <a:buFont typeface="Arial" panose="020B0604020202020204" pitchFamily="34" charset="0"/>
              <a:buChar char="•"/>
            </a:pPr>
            <a:r>
              <a:rPr lang="en-US" altLang="zh-CN" b="1" dirty="0"/>
              <a:t>Understand organizational rules accurately</a:t>
            </a:r>
            <a:r>
              <a:rPr lang="en-US" altLang="zh-CN" dirty="0"/>
              <a:t> — approval chains, permission boundaries, process constraints. Knowing what </a:t>
            </a:r>
            <a:r>
              <a:rPr lang="en-US" altLang="zh-CN" i="1" dirty="0"/>
              <a:t>cannot</a:t>
            </a:r>
            <a:r>
              <a:rPr lang="en-US" altLang="zh-CN" dirty="0"/>
              <a:t> be done autonomously is as important as knowing what </a:t>
            </a:r>
            <a:r>
              <a:rPr lang="en-US" altLang="zh-CN" i="1" dirty="0"/>
              <a:t>can</a:t>
            </a:r>
            <a:r>
              <a:rPr lang="en-US" altLang="zh-CN" dirty="0"/>
              <a:t>.</a:t>
            </a:r>
          </a:p>
          <a:p>
            <a:pPr marL="285750" indent="-285750">
              <a:lnSpc>
                <a:spcPct val="150000"/>
              </a:lnSpc>
              <a:buFont typeface="Arial" panose="020B0604020202020204" pitchFamily="34" charset="0"/>
              <a:buChar char="•"/>
            </a:pPr>
            <a:endParaRPr lang="en-US" altLang="zh-CN" dirty="0"/>
          </a:p>
        </p:txBody>
      </p:sp>
    </p:spTree>
    <p:extLst>
      <p:ext uri="{BB962C8B-B14F-4D97-AF65-F5344CB8AC3E}">
        <p14:creationId xmlns:p14="http://schemas.microsoft.com/office/powerpoint/2010/main" val="27776431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1475</TotalTime>
  <Words>1648</Words>
  <Application>Microsoft Office PowerPoint</Application>
  <PresentationFormat>宽屏</PresentationFormat>
  <Paragraphs>145</Paragraphs>
  <Slides>18</Slides>
  <Notes>16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18</vt:i4>
      </vt:variant>
    </vt:vector>
  </HeadingPairs>
  <TitlesOfParts>
    <vt:vector size="22" baseType="lpstr">
      <vt:lpstr>等线</vt:lpstr>
      <vt:lpstr>等线 Light</vt:lpstr>
      <vt:lpstr>Arial</vt:lpstr>
      <vt:lpstr>Office 主题​​</vt:lpstr>
      <vt:lpstr>AI Agent</vt:lpstr>
      <vt:lpstr>Table of Content</vt:lpstr>
      <vt:lpstr>What is Agent – Agent Components</vt:lpstr>
      <vt:lpstr>What is Agent – How Agent Works</vt:lpstr>
      <vt:lpstr>What are Agent – Agent Types</vt:lpstr>
      <vt:lpstr>RAG</vt:lpstr>
      <vt:lpstr>Agent Protocol</vt:lpstr>
      <vt:lpstr>How to Build Agent</vt:lpstr>
      <vt:lpstr>Where Agent are Deployed</vt:lpstr>
      <vt:lpstr>Agent Deployment Challenges</vt:lpstr>
      <vt:lpstr>[When] Agent Lifecycle</vt:lpstr>
      <vt:lpstr>Agent Ecosystem - Who Are the Players</vt:lpstr>
      <vt:lpstr>Challenges Within Agent</vt:lpstr>
      <vt:lpstr>AI Agent</vt:lpstr>
      <vt:lpstr>Key Notes to Always Remember</vt:lpstr>
      <vt:lpstr>What Decides If a Vertical Agent Is Useful</vt:lpstr>
      <vt:lpstr>Why Claude Code Is Strong (What are needed for Agent)</vt:lpstr>
      <vt:lpstr>What to Think During Agent Building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tianyi</dc:creator>
  <cp:lastModifiedBy>zhang tianyi</cp:lastModifiedBy>
  <cp:revision>217</cp:revision>
  <dcterms:created xsi:type="dcterms:W3CDTF">2026-04-01T23:46:40Z</dcterms:created>
  <dcterms:modified xsi:type="dcterms:W3CDTF">2026-05-19T01:47:14Z</dcterms:modified>
</cp:coreProperties>
</file>